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sxtnJ536aaOXdUcnR2JIMISL4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031331-F754-4BBC-89AE-3B8E161E645E}">
  <a:tblStyle styleId="{0C031331-F754-4BBC-89AE-3B8E161E64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1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3dfa1b7a33_0_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" name="Google Shape;40;g33dfa1b7a3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a15809516_0_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" name="Google Shape;60;g3fa1580951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" name="Google Shape;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a15809516_0_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g3fa1580951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a15809516_0_6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g3fa1580951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15809516_0_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g3fa1580951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a15809516_1_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g3fa15809516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15809516_1_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fa15809516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15809516_1_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g3fa15809516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3659155" y="923035"/>
            <a:ext cx="1825688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608964" y="1532635"/>
            <a:ext cx="7926070" cy="212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3659155" y="923035"/>
            <a:ext cx="1825688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3659155" y="923035"/>
            <a:ext cx="1825688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608964" y="1532635"/>
            <a:ext cx="7926070" cy="212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-31687" y="-88139"/>
            <a:ext cx="9207374" cy="6946139"/>
            <a:chOff x="0" y="0"/>
            <a:chExt cx="9144000" cy="6858000"/>
          </a:xfrm>
        </p:grpSpPr>
        <p:pic>
          <p:nvPicPr>
            <p:cNvPr id="31" name="Google Shape;31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3371" y="44623"/>
              <a:ext cx="4410636" cy="1135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0813" y="2420887"/>
              <a:ext cx="4598897" cy="1281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" name="Google Shape;34;p1"/>
          <p:cNvSpPr txBox="1"/>
          <p:nvPr/>
        </p:nvSpPr>
        <p:spPr>
          <a:xfrm>
            <a:off x="5138906" y="6096000"/>
            <a:ext cx="23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595265" y="1916401"/>
            <a:ext cx="7953600" cy="9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900" b="1">
                <a:solidFill>
                  <a:schemeClr val="lt1"/>
                </a:solidFill>
              </a:rPr>
              <a:t>Sistema inteligente de gestión de limpieza de servicios higiénicos basado en demanda real</a:t>
            </a:r>
            <a:endParaRPr sz="2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5875682" y="5788287"/>
            <a:ext cx="3259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Profesor: Al</a:t>
            </a: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do Martinez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Capstone 802D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94811" y="3661856"/>
            <a:ext cx="24303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-"/>
            </a:pPr>
            <a:r>
              <a:rPr lang="es-CL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Juan Carlos Barraza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-"/>
            </a:pPr>
            <a:r>
              <a:rPr lang="es-CL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Calfucura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-"/>
            </a:pPr>
            <a:r>
              <a:rPr lang="es-CL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Amaru Orellana</a:t>
            </a:r>
            <a:endParaRPr/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-"/>
            </a:pPr>
            <a:r>
              <a:rPr lang="es-CL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Martin Vallejos</a:t>
            </a:r>
            <a:endParaRPr/>
          </a:p>
          <a:p>
            <a:pPr marL="1206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06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3dfa1b7a33_0_3"/>
          <p:cNvSpPr txBox="1">
            <a:spLocks noGrp="1"/>
          </p:cNvSpPr>
          <p:nvPr>
            <p:ph type="title"/>
          </p:nvPr>
        </p:nvSpPr>
        <p:spPr>
          <a:xfrm>
            <a:off x="4095641" y="774053"/>
            <a:ext cx="952718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800"/>
              <a:t>Índice</a:t>
            </a:r>
            <a:endParaRPr sz="2800"/>
          </a:p>
        </p:txBody>
      </p:sp>
      <p:grpSp>
        <p:nvGrpSpPr>
          <p:cNvPr id="43" name="Google Shape;43;g33dfa1b7a33_0_3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44" name="Google Shape;44;g33dfa1b7a33_0_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45;g33dfa1b7a33_0_3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g33dfa1b7a33_0_3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3dfa1b7a33_0_3"/>
          <p:cNvSpPr txBox="1"/>
          <p:nvPr/>
        </p:nvSpPr>
        <p:spPr>
          <a:xfrm>
            <a:off x="1412617" y="1914483"/>
            <a:ext cx="6318765" cy="3029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CL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 y problemática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CL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Estado del arte y solución propuesta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CL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 y modelo de negocio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CL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Metodología y planificación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CL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Tecnología, riesgos y seguridad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CL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Mockups 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CL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3875555" y="672960"/>
            <a:ext cx="1392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L" sz="2800"/>
              <a:t>Contexto </a:t>
            </a:r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54" name="Google Shape;54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Google Shape;55;p5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5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490987" y="1383530"/>
            <a:ext cx="8162100" cy="41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/>
              <a:t>El o</a:t>
            </a:r>
            <a:r>
              <a:rPr lang="es-CL" sz="1600" i="0" u="none" strike="noStrike" cap="none">
                <a:solidFill>
                  <a:srgbClr val="000000"/>
                </a:solidFill>
              </a:rPr>
              <a:t>rigen de la idea</a:t>
            </a:r>
            <a:r>
              <a:rPr lang="es-CL"/>
              <a:t> </a:t>
            </a: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surge a partir de observar servicios higiénicos de distintos pisos temporalmente fuera de disponibilidad durante labores de limpieza.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 operacional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Lugar de aplicación inicial</a:t>
            </a:r>
            <a:b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Sede de DUOC UC.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Área involucrada</a:t>
            </a:r>
            <a:b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Servicios Generales y Mantención.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actual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 distribuido por turnos y sectores.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Limpieza profunda al inicio de la jornada.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Limpiezas rutinarias durante el día.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Atención de incidencias cuando corresponde.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partir de este contexto se realizó el levantamiento del proceso actual para identificar sus principales brechas.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15809516_0_5"/>
          <p:cNvSpPr txBox="1">
            <a:spLocks noGrp="1"/>
          </p:cNvSpPr>
          <p:nvPr>
            <p:ph type="title"/>
          </p:nvPr>
        </p:nvSpPr>
        <p:spPr>
          <a:xfrm>
            <a:off x="3565800" y="754713"/>
            <a:ext cx="20124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800"/>
              <a:t>Problemática </a:t>
            </a:r>
            <a:endParaRPr sz="2800"/>
          </a:p>
        </p:txBody>
      </p:sp>
      <p:grpSp>
        <p:nvGrpSpPr>
          <p:cNvPr id="63" name="Google Shape;63;g3fa15809516_0_5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64" name="Google Shape;64;g3fa15809516_0_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g3fa15809516_0_5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g3fa15809516_0_5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a15809516_0_5"/>
          <p:cNvSpPr txBox="1"/>
          <p:nvPr/>
        </p:nvSpPr>
        <p:spPr>
          <a:xfrm>
            <a:off x="400050" y="1460100"/>
            <a:ext cx="8343900" cy="39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700">
                <a:solidFill>
                  <a:schemeClr val="dk1"/>
                </a:solidFill>
              </a:rPr>
              <a:t>El proceso actual no dispone de información objetiva sobre el nivel de utilización de cada servicio higiénico ni de una trazabilidad operacional estructurada de las intervenciones de limpieza.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700" b="1">
                <a:solidFill>
                  <a:schemeClr val="dk1"/>
                </a:solidFill>
              </a:rPr>
              <a:t>Demanda no cuantificada:</a:t>
            </a:r>
            <a:r>
              <a:rPr lang="es-CL" sz="1700">
                <a:solidFill>
                  <a:schemeClr val="dk1"/>
                </a:solidFill>
              </a:rPr>
              <a:t> No se conoce objetivamente cuántas utilizaciones acumula cada baño.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700" b="1">
                <a:solidFill>
                  <a:schemeClr val="dk1"/>
                </a:solidFill>
              </a:rPr>
              <a:t>Priorización con información limitada:</a:t>
            </a:r>
            <a:r>
              <a:rPr lang="es-CL" sz="1700">
                <a:solidFill>
                  <a:schemeClr val="dk1"/>
                </a:solidFill>
              </a:rPr>
              <a:t> No existen datos de demanda real que apoyen la priorización de las intervenciones.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700" b="1">
                <a:solidFill>
                  <a:schemeClr val="dk1"/>
                </a:solidFill>
              </a:rPr>
              <a:t>Trazabilidad limitada:</a:t>
            </a:r>
            <a:r>
              <a:rPr lang="es-CL" sz="1700">
                <a:solidFill>
                  <a:schemeClr val="dk1"/>
                </a:solidFill>
              </a:rPr>
              <a:t> Los registros actuales no generan automáticamente un historial e indicadores operacionales consolidados.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chemeClr val="dk1"/>
                </a:solidFill>
              </a:rPr>
              <a:t>La brecha está en la información disponible para gestionar el proceso, no en la ausencia de limpieza.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3545550" y="609600"/>
            <a:ext cx="2052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800"/>
              <a:t>Modelo AS-IS</a:t>
            </a:r>
            <a:endParaRPr/>
          </a:p>
        </p:txBody>
      </p:sp>
      <p:grpSp>
        <p:nvGrpSpPr>
          <p:cNvPr id="73" name="Google Shape;73;p6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74" name="Google Shape;74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6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6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50" y="1236795"/>
            <a:ext cx="9066477" cy="5315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2612155" y="658051"/>
            <a:ext cx="39198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L" sz="2800"/>
              <a:t>Solución propuesta TO-BE</a:t>
            </a:r>
            <a:endParaRPr/>
          </a:p>
        </p:txBody>
      </p:sp>
      <p:grpSp>
        <p:nvGrpSpPr>
          <p:cNvPr id="83" name="Google Shape;83;p10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84" name="Google Shape;84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0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" name="Google Shape;86;p10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271713"/>
            <a:ext cx="9143998" cy="452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0"/>
          <p:cNvSpPr txBox="1"/>
          <p:nvPr/>
        </p:nvSpPr>
        <p:spPr>
          <a:xfrm>
            <a:off x="246900" y="5969850"/>
            <a:ext cx="8650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/>
              <a:t>La solución no reemplaza la decisión operacional; entrega información objetiva para apoyar la gestión de limpieza.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15809516_0_22"/>
          <p:cNvSpPr txBox="1">
            <a:spLocks noGrp="1"/>
          </p:cNvSpPr>
          <p:nvPr>
            <p:ph type="title"/>
          </p:nvPr>
        </p:nvSpPr>
        <p:spPr>
          <a:xfrm>
            <a:off x="2486099" y="839325"/>
            <a:ext cx="41718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L" sz="2800"/>
              <a:t>Metodología y planificación</a:t>
            </a:r>
            <a:endParaRPr/>
          </a:p>
        </p:txBody>
      </p:sp>
      <p:grpSp>
        <p:nvGrpSpPr>
          <p:cNvPr id="94" name="Google Shape;94;g3fa15809516_0_22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95" name="Google Shape;95;g3fa15809516_0_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g3fa15809516_0_22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g3fa15809516_0_22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a15809516_0_22"/>
          <p:cNvSpPr txBox="1"/>
          <p:nvPr/>
        </p:nvSpPr>
        <p:spPr>
          <a:xfrm>
            <a:off x="284900" y="1654500"/>
            <a:ext cx="4171800" cy="3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</a:rPr>
              <a:t>Planificación predictiva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 b="1">
                <a:solidFill>
                  <a:schemeClr val="dk1"/>
                </a:solidFill>
              </a:rPr>
              <a:t>EDT: Estructura de Desglose del Trabajo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 b="1">
                <a:solidFill>
                  <a:schemeClr val="dk1"/>
                </a:solidFill>
              </a:rPr>
              <a:t>CPM: Método de la Ruta Crítica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Carta Gantt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Gestión de riesgos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</a:rPr>
              <a:t>Ejecución iterativa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Kanban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Lista priorizada de trabajo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Revisión y pruebas continuas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Priorización del </a:t>
            </a:r>
            <a:r>
              <a:rPr lang="es-CL" sz="1500" b="1">
                <a:solidFill>
                  <a:schemeClr val="dk1"/>
                </a:solidFill>
              </a:rPr>
              <a:t>MVP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99" name="Google Shape;99;g3fa15809516_0_22"/>
          <p:cNvSpPr txBox="1"/>
          <p:nvPr/>
        </p:nvSpPr>
        <p:spPr>
          <a:xfrm>
            <a:off x="4772100" y="1654500"/>
            <a:ext cx="4253100" cy="28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</a:rPr>
              <a:t>Planificación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</a:rPr>
              <a:t>18 actividades principales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</a:rPr>
              <a:t>71 días hábiles: </a:t>
            </a:r>
            <a:r>
              <a:rPr lang="es-CL" sz="1500">
                <a:solidFill>
                  <a:schemeClr val="dk1"/>
                </a:solidFill>
              </a:rPr>
              <a:t>Duración lógica obtenida mediante CPM.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</a:rPr>
              <a:t>≈ 74 días hábiles: </a:t>
            </a:r>
            <a:r>
              <a:rPr lang="es-CL" sz="1500">
                <a:solidFill>
                  <a:schemeClr val="dk1"/>
                </a:solidFill>
              </a:rPr>
              <a:t>Cronograma ajustado considerando disponibilidad de recursos.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 sz="1500" b="1">
                <a:solidFill>
                  <a:schemeClr val="dk1"/>
                </a:solidFill>
              </a:rPr>
              <a:t>Semana final: </a:t>
            </a:r>
            <a:r>
              <a:rPr lang="es-CL" sz="1500">
                <a:solidFill>
                  <a:schemeClr val="dk1"/>
                </a:solidFill>
              </a:rPr>
              <a:t>Reservada para contingencias y ajustes.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00" name="Google Shape;100;g3fa15809516_0_22"/>
          <p:cNvSpPr txBox="1"/>
          <p:nvPr/>
        </p:nvSpPr>
        <p:spPr>
          <a:xfrm>
            <a:off x="461250" y="5423325"/>
            <a:ext cx="8221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/>
              <a:t>La planificación busca proteger las actividades críticas y asegurar primero las funcionalidades esenciales del MVP. 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>
            <a:off x="1697550" y="782325"/>
            <a:ext cx="5748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L" sz="2800"/>
              <a:t>Tecnologías y arquitectura de solución </a:t>
            </a:r>
            <a:endParaRPr/>
          </a:p>
        </p:txBody>
      </p:sp>
      <p:grpSp>
        <p:nvGrpSpPr>
          <p:cNvPr id="106" name="Google Shape;106;p12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107" name="Google Shape;107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2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2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654575" y="1398750"/>
            <a:ext cx="3878400" cy="4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>
                <a:solidFill>
                  <a:schemeClr val="dk1"/>
                </a:solidFill>
              </a:rPr>
              <a:t>1. Captura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>
                <a:solidFill>
                  <a:schemeClr val="dk1"/>
                </a:solidFill>
              </a:rPr>
              <a:t>Cámara / Webcam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Obtiene video del acceso al baño. 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 b="1">
                <a:solidFill>
                  <a:schemeClr val="dk1"/>
                </a:solidFill>
              </a:rPr>
              <a:t>2. Visión artificial</a:t>
            </a:r>
            <a:br>
              <a:rPr lang="es-CL" sz="1300" b="1">
                <a:solidFill>
                  <a:schemeClr val="dk1"/>
                </a:solidFill>
              </a:rPr>
            </a:br>
            <a:r>
              <a:rPr lang="es-CL" sz="1300">
                <a:solidFill>
                  <a:schemeClr val="dk1"/>
                </a:solidFill>
              </a:rPr>
              <a:t> </a:t>
            </a:r>
            <a:r>
              <a:rPr lang="es-CL" sz="1300" b="1">
                <a:solidFill>
                  <a:schemeClr val="dk1"/>
                </a:solidFill>
              </a:rPr>
              <a:t>Python + OpenCV + YOLO + ByteTrack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OpenCV: procesamiento de video.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YOLO: detección de personas.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ByteTrack: seguimiento temporal.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Generación de eventos </a:t>
            </a:r>
            <a:r>
              <a:rPr lang="es-CL" sz="1300" b="1">
                <a:solidFill>
                  <a:schemeClr val="dk1"/>
                </a:solidFill>
              </a:rPr>
              <a:t>IN/OUT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300" b="1">
                <a:solidFill>
                  <a:schemeClr val="dk1"/>
                </a:solidFill>
              </a:rPr>
              <a:t>3. Backend / API</a:t>
            </a:r>
            <a:br>
              <a:rPr lang="es-CL" sz="1300" b="1">
                <a:solidFill>
                  <a:schemeClr val="dk1"/>
                </a:solidFill>
              </a:rPr>
            </a:br>
            <a:r>
              <a:rPr lang="es-CL" sz="1300">
                <a:solidFill>
                  <a:schemeClr val="dk1"/>
                </a:solidFill>
              </a:rPr>
              <a:t> </a:t>
            </a:r>
            <a:r>
              <a:rPr lang="es-CL" sz="1300" b="1">
                <a:solidFill>
                  <a:schemeClr val="dk1"/>
                </a:solidFill>
              </a:rPr>
              <a:t>Python + FastAPI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Recibe eventos de utilización.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Gestiona usuarios, baños y asignaciones.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Evalúa alertas.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Registra intervenciones.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578250" y="6004800"/>
            <a:ext cx="798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El video se procesa localmente y el sistema central recibe principalmente información operacional, no grabaciones permanentes. </a:t>
            </a:r>
            <a:endParaRPr/>
          </a:p>
        </p:txBody>
      </p:sp>
      <p:sp>
        <p:nvSpPr>
          <p:cNvPr id="112" name="Google Shape;112;p12"/>
          <p:cNvSpPr txBox="1"/>
          <p:nvPr/>
        </p:nvSpPr>
        <p:spPr>
          <a:xfrm>
            <a:off x="5518750" y="1398738"/>
            <a:ext cx="2686200" cy="4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300" b="1">
                <a:solidFill>
                  <a:schemeClr val="dk1"/>
                </a:solidFill>
              </a:rPr>
              <a:t>4. Base de datos PostgreSQL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Almacena: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usuarios y roles;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baños y asignaciones;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eventos de utilización;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alertas;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historial de limpieza.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300" b="1">
                <a:solidFill>
                  <a:schemeClr val="dk1"/>
                </a:solidFill>
              </a:rPr>
              <a:t>5. Aplicación web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300" b="1">
                <a:solidFill>
                  <a:schemeClr val="dk1"/>
                </a:solidFill>
              </a:rPr>
              <a:t>Supervisor: </a:t>
            </a:r>
            <a:r>
              <a:rPr lang="es-CL" sz="1300">
                <a:solidFill>
                  <a:schemeClr val="dk1"/>
                </a:solidFill>
              </a:rPr>
              <a:t>Estado de baños, Alertas, Asignaciones, Historial.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300" b="1">
                <a:solidFill>
                  <a:schemeClr val="dk1"/>
                </a:solidFill>
              </a:rPr>
              <a:t>Trabajador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Baños asignados.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>
                <a:solidFill>
                  <a:schemeClr val="dk1"/>
                </a:solidFill>
              </a:rPr>
              <a:t>Inicio y término de limpieza.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>
            <a:spLocks noGrp="1"/>
          </p:cNvSpPr>
          <p:nvPr>
            <p:ph type="title"/>
          </p:nvPr>
        </p:nvSpPr>
        <p:spPr>
          <a:xfrm>
            <a:off x="2150400" y="720950"/>
            <a:ext cx="48432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800"/>
              <a:t>Riesgos principales del proyecto </a:t>
            </a:r>
            <a:endParaRPr sz="2800"/>
          </a:p>
        </p:txBody>
      </p:sp>
      <p:grpSp>
        <p:nvGrpSpPr>
          <p:cNvPr id="118" name="Google Shape;118;p13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119" name="Google Shape;119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3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3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13"/>
          <p:cNvGraphicFramePr/>
          <p:nvPr/>
        </p:nvGraphicFramePr>
        <p:xfrm>
          <a:off x="728625" y="1376400"/>
          <a:ext cx="7686750" cy="4333725"/>
        </p:xfrm>
        <a:graphic>
          <a:graphicData uri="http://schemas.openxmlformats.org/drawingml/2006/table">
            <a:tbl>
              <a:tblPr>
                <a:noFill/>
                <a:tableStyleId>{0C031331-F754-4BBC-89AE-3B8E161E645E}</a:tableStyleId>
              </a:tblPr>
              <a:tblGrid>
                <a:gridCol w="38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Riesgo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Acción de mitigación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Precisión del conteo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Realizar pruebas tempranas y ajustar detector, seguimiento y zonas de cruce.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Autorización o ubicación de la cámara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anticipadamente el escenario real y mantener un entorno controlado como alternativa.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Rendimiento del hardware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Ajustar resolución, frecuencia de procesamiento o utilizar modelos más livianos.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Integración entre componentes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Integrar progresivamente visión artificial, backend, base de datos y aplicación web.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Retrasos en actividades críticas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Priorizar funcionalidades esenciales del MVP y utilizar el margen de contingencia.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3" name="Google Shape;123;p13"/>
          <p:cNvSpPr txBox="1"/>
          <p:nvPr/>
        </p:nvSpPr>
        <p:spPr>
          <a:xfrm>
            <a:off x="405300" y="5921875"/>
            <a:ext cx="8333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Los riesgos pueden generar ajustes en tecnologías, versiones, configuración técnica o funcionalidades no obligatorias.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a15809516_0_60"/>
          <p:cNvSpPr txBox="1">
            <a:spLocks noGrp="1"/>
          </p:cNvSpPr>
          <p:nvPr>
            <p:ph type="title"/>
          </p:nvPr>
        </p:nvSpPr>
        <p:spPr>
          <a:xfrm>
            <a:off x="2877636" y="1023982"/>
            <a:ext cx="3388728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800" dirty="0"/>
              <a:t>Seguridad y privacidad </a:t>
            </a:r>
            <a:endParaRPr sz="2800" dirty="0"/>
          </a:p>
        </p:txBody>
      </p:sp>
      <p:grpSp>
        <p:nvGrpSpPr>
          <p:cNvPr id="129" name="Google Shape;129;g3fa15809516_0_60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130" name="Google Shape;130;g3fa15809516_0_6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g3fa15809516_0_60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g3fa15809516_0_60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a15809516_0_60"/>
          <p:cNvSpPr txBox="1"/>
          <p:nvPr/>
        </p:nvSpPr>
        <p:spPr>
          <a:xfrm>
            <a:off x="4840625" y="1775213"/>
            <a:ext cx="3814500" cy="28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dk1"/>
                </a:solidFill>
              </a:rPr>
              <a:t>Privacidad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Cámara orientada únicamente al acceso.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Sin reconocimiento facial.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IDs de tracking temporales.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Procesamiento local del video.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Sin almacenamiento habitual de imágenes.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Minimización de datos.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4" name="Google Shape;134;g3fa15809516_0_60"/>
          <p:cNvSpPr txBox="1"/>
          <p:nvPr/>
        </p:nvSpPr>
        <p:spPr>
          <a:xfrm>
            <a:off x="454800" y="1775213"/>
            <a:ext cx="40020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dk1"/>
                </a:solidFill>
              </a:rPr>
              <a:t>Seguridad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Autenticación y autorización por roles.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Contraseñas almacenadas de forma segura.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Frontend sin acceso directo a la base de datos.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Credenciales técnicas fuera del código.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HTTPS cuando corresponda al despliegue.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5" name="Google Shape;135;g3fa15809516_0_60"/>
          <p:cNvSpPr txBox="1"/>
          <p:nvPr/>
        </p:nvSpPr>
        <p:spPr>
          <a:xfrm>
            <a:off x="795250" y="5523900"/>
            <a:ext cx="763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/>
              <a:t>Necesitamos conocer el evento de utilización, no la identidad de quien lo genera. 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15809516_0_74"/>
          <p:cNvSpPr txBox="1">
            <a:spLocks noGrp="1"/>
          </p:cNvSpPr>
          <p:nvPr>
            <p:ph type="title"/>
          </p:nvPr>
        </p:nvSpPr>
        <p:spPr>
          <a:xfrm>
            <a:off x="3854252" y="822700"/>
            <a:ext cx="14355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800"/>
              <a:t>Mockups </a:t>
            </a:r>
            <a:endParaRPr sz="2800"/>
          </a:p>
        </p:txBody>
      </p:sp>
      <p:grpSp>
        <p:nvGrpSpPr>
          <p:cNvPr id="141" name="Google Shape;141;g3fa15809516_0_74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142" name="Google Shape;142;g3fa15809516_0_7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g3fa15809516_0_74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g3fa15809516_0_74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g3fa15809516_0_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550" y="1429200"/>
            <a:ext cx="7342900" cy="5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15809516_1_27"/>
          <p:cNvSpPr txBox="1">
            <a:spLocks noGrp="1"/>
          </p:cNvSpPr>
          <p:nvPr>
            <p:ph type="title"/>
          </p:nvPr>
        </p:nvSpPr>
        <p:spPr>
          <a:xfrm>
            <a:off x="3854252" y="700599"/>
            <a:ext cx="14355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800"/>
              <a:t>Mockups </a:t>
            </a:r>
            <a:endParaRPr sz="2800"/>
          </a:p>
        </p:txBody>
      </p:sp>
      <p:grpSp>
        <p:nvGrpSpPr>
          <p:cNvPr id="151" name="Google Shape;151;g3fa15809516_1_27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152" name="Google Shape;152;g3fa15809516_1_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g3fa15809516_1_27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g3fa15809516_1_27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g3fa15809516_1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263" y="1264250"/>
            <a:ext cx="8391476" cy="5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fa15809516_1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042" y="1429192"/>
            <a:ext cx="1264800" cy="355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fa15809516_1_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2152" y="152400"/>
            <a:ext cx="53340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15809516_1_13"/>
          <p:cNvSpPr txBox="1">
            <a:spLocks noGrp="1"/>
          </p:cNvSpPr>
          <p:nvPr>
            <p:ph type="title"/>
          </p:nvPr>
        </p:nvSpPr>
        <p:spPr>
          <a:xfrm>
            <a:off x="3854252" y="904100"/>
            <a:ext cx="14355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800"/>
              <a:t>Mockups </a:t>
            </a:r>
            <a:endParaRPr sz="2800"/>
          </a:p>
        </p:txBody>
      </p:sp>
      <p:grpSp>
        <p:nvGrpSpPr>
          <p:cNvPr id="163" name="Google Shape;163;g3fa15809516_1_13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164" name="Google Shape;164;g3fa15809516_1_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g3fa15809516_1_13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fa15809516_1_13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g3fa15809516_1_13"/>
          <p:cNvPicPr preferRelativeResize="0"/>
          <p:nvPr/>
        </p:nvPicPr>
        <p:blipFill rotWithShape="1">
          <a:blip r:embed="rId4">
            <a:alphaModFix/>
          </a:blip>
          <a:srcRect b="13934"/>
          <a:stretch/>
        </p:blipFill>
        <p:spPr>
          <a:xfrm>
            <a:off x="424837" y="1775825"/>
            <a:ext cx="8294325" cy="49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fa15809516_1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278" y="1824450"/>
            <a:ext cx="1895325" cy="2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15809516_1_37"/>
          <p:cNvSpPr txBox="1">
            <a:spLocks noGrp="1"/>
          </p:cNvSpPr>
          <p:nvPr>
            <p:ph type="title"/>
          </p:nvPr>
        </p:nvSpPr>
        <p:spPr>
          <a:xfrm>
            <a:off x="3854252" y="738849"/>
            <a:ext cx="14355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800"/>
              <a:t>Mockups </a:t>
            </a:r>
            <a:endParaRPr sz="2800"/>
          </a:p>
        </p:txBody>
      </p:sp>
      <p:grpSp>
        <p:nvGrpSpPr>
          <p:cNvPr id="174" name="Google Shape;174;g3fa15809516_1_37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175" name="Google Shape;175;g3fa15809516_1_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g3fa15809516_1_37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fa15809516_1_37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3fa15809516_1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488" y="1351100"/>
            <a:ext cx="8187025" cy="51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fa15809516_1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430" y="1477642"/>
            <a:ext cx="1264800" cy="355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>
            <a:spLocks noGrp="1"/>
          </p:cNvSpPr>
          <p:nvPr>
            <p:ph type="title"/>
          </p:nvPr>
        </p:nvSpPr>
        <p:spPr>
          <a:xfrm>
            <a:off x="3580945" y="862848"/>
            <a:ext cx="19821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800"/>
              <a:t>Conclusiones</a:t>
            </a:r>
            <a:endParaRPr sz="2800"/>
          </a:p>
        </p:txBody>
      </p:sp>
      <p:grpSp>
        <p:nvGrpSpPr>
          <p:cNvPr id="185" name="Google Shape;185;p14"/>
          <p:cNvGrpSpPr/>
          <p:nvPr/>
        </p:nvGrpSpPr>
        <p:grpSpPr>
          <a:xfrm>
            <a:off x="77533" y="60960"/>
            <a:ext cx="2437066" cy="548640"/>
            <a:chOff x="77533" y="60960"/>
            <a:chExt cx="2437066" cy="548640"/>
          </a:xfrm>
        </p:grpSpPr>
        <p:pic>
          <p:nvPicPr>
            <p:cNvPr id="186" name="Google Shape;186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533" y="60960"/>
              <a:ext cx="2437066" cy="54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4"/>
            <p:cNvSpPr/>
            <p:nvPr/>
          </p:nvSpPr>
          <p:spPr>
            <a:xfrm>
              <a:off x="2514599" y="6096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w="120000" h="548640" extrusionOk="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905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14"/>
          <p:cNvSpPr txBox="1"/>
          <p:nvPr/>
        </p:nvSpPr>
        <p:spPr>
          <a:xfrm>
            <a:off x="2557782" y="94995"/>
            <a:ext cx="126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 INFORMÁTICA Y 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787200" y="1599800"/>
            <a:ext cx="7569600" cy="4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1700" b="1">
                <a:solidFill>
                  <a:schemeClr val="dk1"/>
                </a:solidFill>
              </a:rPr>
              <a:t>Problema</a:t>
            </a:r>
            <a:endParaRPr sz="1700"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</a:rPr>
              <a:t>Actualmente falta información objetiva sobre utilización y trazabilidad operacional.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1700" b="1">
                <a:solidFill>
                  <a:schemeClr val="dk1"/>
                </a:solidFill>
              </a:rPr>
              <a:t>Propuesta</a:t>
            </a:r>
            <a:endParaRPr sz="1700"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</a:rPr>
              <a:t>La solución integra visión artificial y una plataforma web para transformar el uso de los baños en información útil para la gestión.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1700" b="1">
                <a:solidFill>
                  <a:schemeClr val="dk1"/>
                </a:solidFill>
              </a:rPr>
              <a:t>Factibilidad</a:t>
            </a:r>
            <a:endParaRPr sz="1700"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</a:rPr>
              <a:t>El MVP fue acotado, planificado y respaldado por una estrategia de riesgos, seguridad y validación progresiva.</a:t>
            </a:r>
            <a:endParaRPr sz="1700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 sz="1700">
                <a:solidFill>
                  <a:schemeClr val="dk1"/>
                </a:solidFill>
              </a:rPr>
              <a:t>El objetivo no es automatizar la limpieza, sino mejorar la información disponible para decidir cuándo y dónde intervenir.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Presentación en pantalla (4:3)</PresentationFormat>
  <Paragraphs>145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Índice</vt:lpstr>
      <vt:lpstr>Contexto </vt:lpstr>
      <vt:lpstr>Problemática </vt:lpstr>
      <vt:lpstr>Modelo AS-IS</vt:lpstr>
      <vt:lpstr>Solución propuesta TO-BE</vt:lpstr>
      <vt:lpstr>Metodología y planificación</vt:lpstr>
      <vt:lpstr>Tecnologías y arquitectura de solución </vt:lpstr>
      <vt:lpstr>Riesgos principales del proyecto </vt:lpstr>
      <vt:lpstr>Seguridad y privacidad </vt:lpstr>
      <vt:lpstr>Mockups </vt:lpstr>
      <vt:lpstr>Mockups </vt:lpstr>
      <vt:lpstr>Mockups </vt:lpstr>
      <vt:lpstr>Mockups 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diego</dc:creator>
  <cp:lastModifiedBy>MARTIN SANTIAGO VALLEJOS FLORES</cp:lastModifiedBy>
  <cp:revision>1</cp:revision>
  <dcterms:created xsi:type="dcterms:W3CDTF">2023-03-13T03:12:14Z</dcterms:created>
  <dcterms:modified xsi:type="dcterms:W3CDTF">2026-09-04T03:45:01Z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2022-02-01T00:00:00Z</vt:filetime>
  </property>
  <property fmtid="{D5CDD505-2E9C-101B-9397-08002B2CF9AE}" pid="3" name="LastSaved">
    <vt:filetime>2023-03-13T00:00:00Z</vt:filetime>
  </property>
</Properties>
</file>