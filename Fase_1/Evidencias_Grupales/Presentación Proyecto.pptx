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custom-properties+xml" PartName="/docProps/custom.xml"/>
  <Override ContentType="application/binary" PartName="/ppt/metadata"/>
  <Override ContentType="application/vnd.openxmlformats-officedocument.presentationml.notesMaster+xml" PartName="/ppt/notesMasters/notesMaster1.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6858000" cx="9144000"/>
  <p:notesSz cx="9144000" cy="685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0">
          <p15:clr>
            <a:srgbClr val="A4A3A4"/>
          </p15:clr>
        </p15:guide>
        <p15:guide id="2" pos="2160">
          <p15:clr>
            <a:srgbClr val="A4A3A4"/>
          </p15:clr>
        </p15:guide>
      </p15:sldGuideLst>
    </p:ext>
    <p:ext uri="GoogleSlidesCustomDataVersion2">
      <go:slidesCustomData xmlns:go="http://customooxmlschemas.google.com/" r:id="rId23" roundtripDataSignature="AMtx7mgjMFMyM/N2dalG+rSNW/CxZqN3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1B650AB-F6C6-4F0C-AFE5-88CCE174B417}">
  <a:tblStyle styleId="{B1B650AB-F6C6-4F0C-AFE5-88CCE174B41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orient="horz"/>
        <p:guide pos="216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23" Type="http://customschemas.google.com/relationships/presentationmetadata" Target="meta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1: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8" name="Google Shape;28;p1:notes"/>
          <p:cNvSpPr/>
          <p:nvPr>
            <p:ph idx="2" type="sldImg"/>
          </p:nvPr>
        </p:nvSpPr>
        <p:spPr>
          <a:xfrm>
            <a:off x="2857500" y="514350"/>
            <a:ext cx="3429000" cy="2571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g33dfa1b7a33_0_3: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0" name="Google Shape;40;g33dfa1b7a33_0_3:notes"/>
          <p:cNvSpPr/>
          <p:nvPr>
            <p:ph idx="2" type="sldImg"/>
          </p:nvPr>
        </p:nvSpPr>
        <p:spPr>
          <a:xfrm>
            <a:off x="2857500" y="514350"/>
            <a:ext cx="3429000" cy="2571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5: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0" name="Google Shape;50;p5:notes"/>
          <p:cNvSpPr/>
          <p:nvPr>
            <p:ph idx="2" type="sldImg"/>
          </p:nvPr>
        </p:nvSpPr>
        <p:spPr>
          <a:xfrm>
            <a:off x="2857500" y="514350"/>
            <a:ext cx="3429000" cy="2571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3fa15809516_0_5: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60" name="Google Shape;60;g3fa15809516_0_5:notes"/>
          <p:cNvSpPr/>
          <p:nvPr>
            <p:ph idx="2" type="sldImg"/>
          </p:nvPr>
        </p:nvSpPr>
        <p:spPr>
          <a:xfrm>
            <a:off x="2857500" y="514350"/>
            <a:ext cx="3429000" cy="25719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fa15809516_0_110: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70" name="Google Shape;70;g3fa15809516_0_110:notes"/>
          <p:cNvSpPr/>
          <p:nvPr>
            <p:ph idx="2" type="sldImg"/>
          </p:nvPr>
        </p:nvSpPr>
        <p:spPr>
          <a:xfrm>
            <a:off x="2857500" y="514350"/>
            <a:ext cx="3429000" cy="25719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fa15809516_0_99: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1" name="Google Shape;81;g3fa15809516_0_99:notes"/>
          <p:cNvSpPr/>
          <p:nvPr>
            <p:ph idx="2" type="sldImg"/>
          </p:nvPr>
        </p:nvSpPr>
        <p:spPr>
          <a:xfrm>
            <a:off x="2857500" y="514350"/>
            <a:ext cx="3429000" cy="25719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6: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1" name="Google Shape;91;p6:notes"/>
          <p:cNvSpPr/>
          <p:nvPr>
            <p:ph idx="2" type="sldImg"/>
          </p:nvPr>
        </p:nvSpPr>
        <p:spPr>
          <a:xfrm>
            <a:off x="2857500" y="514350"/>
            <a:ext cx="3429000" cy="2571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10: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1" name="Google Shape;101;p10:notes"/>
          <p:cNvSpPr/>
          <p:nvPr>
            <p:ph idx="2" type="sldImg"/>
          </p:nvPr>
        </p:nvSpPr>
        <p:spPr>
          <a:xfrm>
            <a:off x="2857500" y="514350"/>
            <a:ext cx="3429000" cy="2571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fa15809516_0_22: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2" name="Google Shape;112;g3fa15809516_0_22:notes"/>
          <p:cNvSpPr/>
          <p:nvPr>
            <p:ph idx="2" type="sldImg"/>
          </p:nvPr>
        </p:nvSpPr>
        <p:spPr>
          <a:xfrm>
            <a:off x="2857500" y="514350"/>
            <a:ext cx="3429000" cy="25719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12: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4" name="Google Shape;124;p12:notes"/>
          <p:cNvSpPr/>
          <p:nvPr>
            <p:ph idx="2" type="sldImg"/>
          </p:nvPr>
        </p:nvSpPr>
        <p:spPr>
          <a:xfrm>
            <a:off x="2857500" y="514350"/>
            <a:ext cx="3429000" cy="2571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3: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6" name="Google Shape;136;p13:notes"/>
          <p:cNvSpPr/>
          <p:nvPr>
            <p:ph idx="2" type="sldImg"/>
          </p:nvPr>
        </p:nvSpPr>
        <p:spPr>
          <a:xfrm>
            <a:off x="2857500" y="514350"/>
            <a:ext cx="3429000" cy="2571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fa15809516_0_60: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7" name="Google Shape;147;g3fa15809516_0_60:notes"/>
          <p:cNvSpPr/>
          <p:nvPr>
            <p:ph idx="2" type="sldImg"/>
          </p:nvPr>
        </p:nvSpPr>
        <p:spPr>
          <a:xfrm>
            <a:off x="2857500" y="514350"/>
            <a:ext cx="3429000" cy="25719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3fa15809516_1_27: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9" name="Google Shape;159;g3fa15809516_1_27:notes"/>
          <p:cNvSpPr/>
          <p:nvPr>
            <p:ph idx="2" type="sldImg"/>
          </p:nvPr>
        </p:nvSpPr>
        <p:spPr>
          <a:xfrm>
            <a:off x="2857500" y="514350"/>
            <a:ext cx="3429000" cy="25719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fa15809516_1_13: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1" name="Google Shape;171;g3fa15809516_1_13:notes"/>
          <p:cNvSpPr/>
          <p:nvPr>
            <p:ph idx="2" type="sldImg"/>
          </p:nvPr>
        </p:nvSpPr>
        <p:spPr>
          <a:xfrm>
            <a:off x="2857500" y="514350"/>
            <a:ext cx="3429000" cy="25719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fa15809516_1_37: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2" name="Google Shape;182;g3fa15809516_1_37:notes"/>
          <p:cNvSpPr/>
          <p:nvPr>
            <p:ph idx="2" type="sldImg"/>
          </p:nvPr>
        </p:nvSpPr>
        <p:spPr>
          <a:xfrm>
            <a:off x="2857500" y="514350"/>
            <a:ext cx="3429000" cy="25719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4:notes"/>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93" name="Google Shape;193;p14:notes"/>
          <p:cNvSpPr/>
          <p:nvPr>
            <p:ph idx="2" type="sldImg"/>
          </p:nvPr>
        </p:nvSpPr>
        <p:spPr>
          <a:xfrm>
            <a:off x="2857500" y="514350"/>
            <a:ext cx="3429000" cy="2571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 name="Shape 11"/>
        <p:cNvGrpSpPr/>
        <p:nvPr/>
      </p:nvGrpSpPr>
      <p:grpSpPr>
        <a:xfrm>
          <a:off x="0" y="0"/>
          <a:ext cx="0" cy="0"/>
          <a:chOff x="0" y="0"/>
          <a:chExt cx="0" cy="0"/>
        </a:xfrm>
      </p:grpSpPr>
      <p:sp>
        <p:nvSpPr>
          <p:cNvPr id="12" name="Google Shape;12;p4"/>
          <p:cNvSpPr txBox="1"/>
          <p:nvPr>
            <p:ph type="title"/>
          </p:nvPr>
        </p:nvSpPr>
        <p:spPr>
          <a:xfrm>
            <a:off x="3659155" y="923035"/>
            <a:ext cx="1825688" cy="391159"/>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1" i="0" sz="2400">
                <a:solidFill>
                  <a:schemeClr val="dk1"/>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4"/>
          <p:cNvSpPr txBox="1"/>
          <p:nvPr>
            <p:ph idx="1" type="body"/>
          </p:nvPr>
        </p:nvSpPr>
        <p:spPr>
          <a:xfrm>
            <a:off x="608964" y="1532635"/>
            <a:ext cx="7926070" cy="2128520"/>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SzPts val="1400"/>
              <a:buNone/>
              <a:defRPr b="0" i="0" sz="2400">
                <a:solidFill>
                  <a:schemeClr val="dk1"/>
                </a:solidFill>
                <a:latin typeface="Calibri"/>
                <a:ea typeface="Calibri"/>
                <a:cs typeface="Calibri"/>
                <a:sym typeface="Calibri"/>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 name="Google Shape;14;p4"/>
          <p:cNvSpPr txBox="1"/>
          <p:nvPr>
            <p:ph idx="11" type="ftr"/>
          </p:nvPr>
        </p:nvSpPr>
        <p:spPr>
          <a:xfrm>
            <a:off x="3108960" y="6377940"/>
            <a:ext cx="2926080" cy="342900"/>
          </a:xfrm>
          <a:prstGeom prst="rect">
            <a:avLst/>
          </a:prstGeom>
          <a:noFill/>
          <a:ln>
            <a:noFill/>
          </a:ln>
        </p:spPr>
        <p:txBody>
          <a:bodyPr anchorCtr="0" anchor="t" bIns="0" lIns="0" spcFirstLastPara="1" rIns="0" wrap="square" tIns="0">
            <a:spAutoFit/>
          </a:bodyPr>
          <a:lstStyle>
            <a:lvl1pPr lvl="0" algn="ctr">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 name="Google Shape;15;p4"/>
          <p:cNvSpPr txBox="1"/>
          <p:nvPr>
            <p:ph idx="10" type="dt"/>
          </p:nvPr>
        </p:nvSpPr>
        <p:spPr>
          <a:xfrm>
            <a:off x="457200" y="6377940"/>
            <a:ext cx="2103120" cy="34290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 name="Google Shape;16;p4"/>
          <p:cNvSpPr txBox="1"/>
          <p:nvPr>
            <p:ph idx="12" type="sldNum"/>
          </p:nvPr>
        </p:nvSpPr>
        <p:spPr>
          <a:xfrm>
            <a:off x="6583680" y="6377940"/>
            <a:ext cx="2103120" cy="3429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L"/>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17" name="Shape 17"/>
        <p:cNvGrpSpPr/>
        <p:nvPr/>
      </p:nvGrpSpPr>
      <p:grpSpPr>
        <a:xfrm>
          <a:off x="0" y="0"/>
          <a:ext cx="0" cy="0"/>
          <a:chOff x="0" y="0"/>
          <a:chExt cx="0" cy="0"/>
        </a:xfrm>
      </p:grpSpPr>
      <p:sp>
        <p:nvSpPr>
          <p:cNvPr id="18" name="Google Shape;18;p7"/>
          <p:cNvSpPr txBox="1"/>
          <p:nvPr>
            <p:ph type="title"/>
          </p:nvPr>
        </p:nvSpPr>
        <p:spPr>
          <a:xfrm>
            <a:off x="3659155" y="923035"/>
            <a:ext cx="1825688" cy="391159"/>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1" i="0" sz="2400">
                <a:solidFill>
                  <a:schemeClr val="dk1"/>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7"/>
          <p:cNvSpPr txBox="1"/>
          <p:nvPr>
            <p:ph idx="11" type="ftr"/>
          </p:nvPr>
        </p:nvSpPr>
        <p:spPr>
          <a:xfrm>
            <a:off x="3108960" y="6377940"/>
            <a:ext cx="2926080" cy="342900"/>
          </a:xfrm>
          <a:prstGeom prst="rect">
            <a:avLst/>
          </a:prstGeom>
          <a:noFill/>
          <a:ln>
            <a:noFill/>
          </a:ln>
        </p:spPr>
        <p:txBody>
          <a:bodyPr anchorCtr="0" anchor="t" bIns="0" lIns="0" spcFirstLastPara="1" rIns="0" wrap="square" tIns="0">
            <a:spAutoFit/>
          </a:bodyPr>
          <a:lstStyle>
            <a:lvl1pPr lvl="0" algn="ctr">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7"/>
          <p:cNvSpPr txBox="1"/>
          <p:nvPr>
            <p:ph idx="10" type="dt"/>
          </p:nvPr>
        </p:nvSpPr>
        <p:spPr>
          <a:xfrm>
            <a:off x="457200" y="6377940"/>
            <a:ext cx="2103120" cy="34290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7"/>
          <p:cNvSpPr txBox="1"/>
          <p:nvPr>
            <p:ph idx="12" type="sldNum"/>
          </p:nvPr>
        </p:nvSpPr>
        <p:spPr>
          <a:xfrm>
            <a:off x="6583680" y="6377940"/>
            <a:ext cx="2103120" cy="3429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L"/>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22" name="Shape 22"/>
        <p:cNvGrpSpPr/>
        <p:nvPr/>
      </p:nvGrpSpPr>
      <p:grpSpPr>
        <a:xfrm>
          <a:off x="0" y="0"/>
          <a:ext cx="0" cy="0"/>
          <a:chOff x="0" y="0"/>
          <a:chExt cx="0" cy="0"/>
        </a:xfrm>
      </p:grpSpPr>
      <p:sp>
        <p:nvSpPr>
          <p:cNvPr id="23" name="Google Shape;23;p8"/>
          <p:cNvSpPr txBox="1"/>
          <p:nvPr>
            <p:ph idx="11" type="ftr"/>
          </p:nvPr>
        </p:nvSpPr>
        <p:spPr>
          <a:xfrm>
            <a:off x="3108960" y="6377940"/>
            <a:ext cx="2926080" cy="342900"/>
          </a:xfrm>
          <a:prstGeom prst="rect">
            <a:avLst/>
          </a:prstGeom>
          <a:noFill/>
          <a:ln>
            <a:noFill/>
          </a:ln>
        </p:spPr>
        <p:txBody>
          <a:bodyPr anchorCtr="0" anchor="t" bIns="0" lIns="0" spcFirstLastPara="1" rIns="0" wrap="square" tIns="0">
            <a:spAutoFit/>
          </a:bodyPr>
          <a:lstStyle>
            <a:lvl1pPr lvl="0" algn="ctr">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8"/>
          <p:cNvSpPr txBox="1"/>
          <p:nvPr>
            <p:ph idx="10" type="dt"/>
          </p:nvPr>
        </p:nvSpPr>
        <p:spPr>
          <a:xfrm>
            <a:off x="457200" y="6377940"/>
            <a:ext cx="2103120" cy="34290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8"/>
          <p:cNvSpPr txBox="1"/>
          <p:nvPr>
            <p:ph idx="12" type="sldNum"/>
          </p:nvPr>
        </p:nvSpPr>
        <p:spPr>
          <a:xfrm>
            <a:off x="6583680" y="6377940"/>
            <a:ext cx="2103120" cy="3429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L"/>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3"/>
          <p:cNvSpPr txBox="1"/>
          <p:nvPr>
            <p:ph type="title"/>
          </p:nvPr>
        </p:nvSpPr>
        <p:spPr>
          <a:xfrm>
            <a:off x="3659155" y="923035"/>
            <a:ext cx="1825688" cy="391159"/>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1" i="0" sz="2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3"/>
          <p:cNvSpPr txBox="1"/>
          <p:nvPr>
            <p:ph idx="1" type="body"/>
          </p:nvPr>
        </p:nvSpPr>
        <p:spPr>
          <a:xfrm>
            <a:off x="608964" y="1532635"/>
            <a:ext cx="7926070" cy="2128520"/>
          </a:xfrm>
          <a:prstGeom prst="rect">
            <a:avLst/>
          </a:prstGeom>
          <a:noFill/>
          <a:ln>
            <a:noFill/>
          </a:ln>
        </p:spPr>
        <p:txBody>
          <a:bodyPr anchorCtr="0" anchor="t" bIns="0" lIns="0" spcFirstLastPara="1" rIns="0" wrap="square" tIns="0">
            <a:spAutoFit/>
          </a:bodyPr>
          <a:lstStyle>
            <a:lvl1pPr indent="-228600" lvl="0" marL="457200"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9pPr>
          </a:lstStyle>
          <a:p/>
        </p:txBody>
      </p:sp>
      <p:sp>
        <p:nvSpPr>
          <p:cNvPr id="8" name="Google Shape;8;p3"/>
          <p:cNvSpPr txBox="1"/>
          <p:nvPr>
            <p:ph idx="11" type="ftr"/>
          </p:nvPr>
        </p:nvSpPr>
        <p:spPr>
          <a:xfrm>
            <a:off x="3108960" y="6377940"/>
            <a:ext cx="2926080" cy="342900"/>
          </a:xfrm>
          <a:prstGeom prst="rect">
            <a:avLst/>
          </a:prstGeom>
          <a:noFill/>
          <a:ln>
            <a:noFill/>
          </a:ln>
        </p:spPr>
        <p:txBody>
          <a:bodyPr anchorCtr="0" anchor="t" bIns="0" lIns="0" spcFirstLastPara="1" rIns="0" wrap="square" tIns="0">
            <a:spAutoFit/>
          </a:bodyPr>
          <a:lstStyle>
            <a:lvl1pPr lvl="0" marR="0" rtl="0" algn="ctr">
              <a:lnSpc>
                <a:spcPct val="100000"/>
              </a:lnSpc>
              <a:spcBef>
                <a:spcPts val="0"/>
              </a:spcBef>
              <a:spcAft>
                <a:spcPts val="0"/>
              </a:spcAft>
              <a:buClr>
                <a:srgbClr val="000000"/>
              </a:buClr>
              <a:buSzPts val="1400"/>
              <a:buFont typeface="Arial"/>
              <a:buNone/>
              <a:defRPr b="0" i="0" sz="18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3"/>
          <p:cNvSpPr txBox="1"/>
          <p:nvPr>
            <p:ph idx="10" type="dt"/>
          </p:nvPr>
        </p:nvSpPr>
        <p:spPr>
          <a:xfrm>
            <a:off x="457200" y="6377940"/>
            <a:ext cx="2103120" cy="342900"/>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3"/>
          <p:cNvSpPr txBox="1"/>
          <p:nvPr>
            <p:ph idx="12" type="sldNum"/>
          </p:nvPr>
        </p:nvSpPr>
        <p:spPr>
          <a:xfrm>
            <a:off x="6583680" y="6377940"/>
            <a:ext cx="2103120" cy="342900"/>
          </a:xfrm>
          <a:prstGeom prst="rect">
            <a:avLst/>
          </a:prstGeom>
          <a:noFill/>
          <a:ln>
            <a:noFill/>
          </a:ln>
        </p:spPr>
        <p:txBody>
          <a:bodyPr anchorCtr="0" anchor="t" bIns="0" lIns="0" spcFirstLastPara="1" rIns="0" wrap="square" tIns="0">
            <a:spAutoFit/>
          </a:bodyPr>
          <a:lstStyle>
            <a:lvl1pPr indent="0" lvl="0"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L"/>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 Id="rId4" Type="http://schemas.openxmlformats.org/officeDocument/2006/relationships/image" Target="../media/image1.jpg"/><Relationship Id="rId5"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29" name="Shape 29"/>
        <p:cNvGrpSpPr/>
        <p:nvPr/>
      </p:nvGrpSpPr>
      <p:grpSpPr>
        <a:xfrm>
          <a:off x="0" y="0"/>
          <a:ext cx="0" cy="0"/>
          <a:chOff x="0" y="0"/>
          <a:chExt cx="0" cy="0"/>
        </a:xfrm>
      </p:grpSpPr>
      <p:grpSp>
        <p:nvGrpSpPr>
          <p:cNvPr id="30" name="Google Shape;30;p1"/>
          <p:cNvGrpSpPr/>
          <p:nvPr/>
        </p:nvGrpSpPr>
        <p:grpSpPr>
          <a:xfrm>
            <a:off x="-31687" y="-88139"/>
            <a:ext cx="9207374" cy="6946139"/>
            <a:chOff x="0" y="0"/>
            <a:chExt cx="9144000" cy="6858000"/>
          </a:xfrm>
        </p:grpSpPr>
        <p:pic>
          <p:nvPicPr>
            <p:cNvPr id="31" name="Google Shape;31;p1"/>
            <p:cNvPicPr preferRelativeResize="0"/>
            <p:nvPr/>
          </p:nvPicPr>
          <p:blipFill rotWithShape="1">
            <a:blip r:embed="rId3">
              <a:alphaModFix/>
            </a:blip>
            <a:srcRect b="0" l="0" r="0" t="0"/>
            <a:stretch/>
          </p:blipFill>
          <p:spPr>
            <a:xfrm>
              <a:off x="0" y="0"/>
              <a:ext cx="9144000" cy="6858000"/>
            </a:xfrm>
            <a:prstGeom prst="rect">
              <a:avLst/>
            </a:prstGeom>
            <a:noFill/>
            <a:ln>
              <a:noFill/>
            </a:ln>
          </p:spPr>
        </p:pic>
        <p:pic>
          <p:nvPicPr>
            <p:cNvPr id="32" name="Google Shape;32;p1"/>
            <p:cNvPicPr preferRelativeResize="0"/>
            <p:nvPr/>
          </p:nvPicPr>
          <p:blipFill rotWithShape="1">
            <a:blip r:embed="rId4">
              <a:alphaModFix/>
            </a:blip>
            <a:srcRect b="0" l="0" r="0" t="0"/>
            <a:stretch/>
          </p:blipFill>
          <p:spPr>
            <a:xfrm>
              <a:off x="233371" y="44623"/>
              <a:ext cx="4410636" cy="1135451"/>
            </a:xfrm>
            <a:prstGeom prst="rect">
              <a:avLst/>
            </a:prstGeom>
            <a:noFill/>
            <a:ln>
              <a:noFill/>
            </a:ln>
          </p:spPr>
        </p:pic>
        <p:pic>
          <p:nvPicPr>
            <p:cNvPr id="33" name="Google Shape;33;p1"/>
            <p:cNvPicPr preferRelativeResize="0"/>
            <p:nvPr/>
          </p:nvPicPr>
          <p:blipFill rotWithShape="1">
            <a:blip r:embed="rId5">
              <a:alphaModFix/>
            </a:blip>
            <a:srcRect b="0" l="0" r="0" t="0"/>
            <a:stretch/>
          </p:blipFill>
          <p:spPr>
            <a:xfrm>
              <a:off x="2240813" y="2420887"/>
              <a:ext cx="4598897" cy="1281525"/>
            </a:xfrm>
            <a:prstGeom prst="rect">
              <a:avLst/>
            </a:prstGeom>
            <a:noFill/>
            <a:ln>
              <a:noFill/>
            </a:ln>
          </p:spPr>
        </p:pic>
      </p:grpSp>
      <p:sp>
        <p:nvSpPr>
          <p:cNvPr id="34" name="Google Shape;34;p1"/>
          <p:cNvSpPr txBox="1"/>
          <p:nvPr/>
        </p:nvSpPr>
        <p:spPr>
          <a:xfrm>
            <a:off x="5138906" y="6096000"/>
            <a:ext cx="23664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1"/>
          <p:cNvSpPr txBox="1"/>
          <p:nvPr/>
        </p:nvSpPr>
        <p:spPr>
          <a:xfrm>
            <a:off x="595265" y="1916401"/>
            <a:ext cx="7953600" cy="972600"/>
          </a:xfrm>
          <a:prstGeom prst="rect">
            <a:avLst/>
          </a:prstGeom>
          <a:noFill/>
          <a:ln>
            <a:noFill/>
          </a:ln>
        </p:spPr>
        <p:txBody>
          <a:bodyPr anchorCtr="0" anchor="t" bIns="0" lIns="0" spcFirstLastPara="1" rIns="0" wrap="square" tIns="12700">
            <a:spAutoFit/>
          </a:bodyPr>
          <a:lstStyle/>
          <a:p>
            <a:pPr indent="0" lvl="0" marL="0" rtl="0" algn="ctr">
              <a:lnSpc>
                <a:spcPct val="115000"/>
              </a:lnSpc>
              <a:spcBef>
                <a:spcPts val="0"/>
              </a:spcBef>
              <a:spcAft>
                <a:spcPts val="0"/>
              </a:spcAft>
              <a:buClr>
                <a:schemeClr val="dk1"/>
              </a:buClr>
              <a:buSzPts val="1100"/>
              <a:buFont typeface="Arial"/>
              <a:buNone/>
            </a:pPr>
            <a:r>
              <a:rPr b="1" lang="es-CL" sz="2900">
                <a:solidFill>
                  <a:schemeClr val="lt1"/>
                </a:solidFill>
              </a:rPr>
              <a:t>Sistema inteligente de gestión de limpieza de servicios higiénicos basado en demanda real</a:t>
            </a:r>
            <a:endParaRPr b="1" i="0" sz="2900" u="none" cap="none" strike="noStrike">
              <a:solidFill>
                <a:schemeClr val="lt1"/>
              </a:solidFill>
              <a:latin typeface="Arial"/>
              <a:ea typeface="Arial"/>
              <a:cs typeface="Arial"/>
              <a:sym typeface="Arial"/>
            </a:endParaRPr>
          </a:p>
        </p:txBody>
      </p:sp>
      <p:sp>
        <p:nvSpPr>
          <p:cNvPr id="36" name="Google Shape;36;p1"/>
          <p:cNvSpPr txBox="1"/>
          <p:nvPr/>
        </p:nvSpPr>
        <p:spPr>
          <a:xfrm>
            <a:off x="5875682" y="5788287"/>
            <a:ext cx="3259200" cy="615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es-CL" sz="1700" u="none" cap="none" strike="noStrike">
                <a:solidFill>
                  <a:srgbClr val="000000"/>
                </a:solidFill>
                <a:latin typeface="Calibri"/>
                <a:ea typeface="Calibri"/>
                <a:cs typeface="Calibri"/>
                <a:sym typeface="Calibri"/>
              </a:rPr>
              <a:t>Profesor: Al</a:t>
            </a:r>
            <a:r>
              <a:rPr lang="es-CL" sz="1700">
                <a:latin typeface="Calibri"/>
                <a:ea typeface="Calibri"/>
                <a:cs typeface="Calibri"/>
                <a:sym typeface="Calibri"/>
              </a:rPr>
              <a:t>do Martinez</a:t>
            </a:r>
            <a:endParaRPr sz="1700">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rPr lang="es-CL" sz="1700">
                <a:latin typeface="Calibri"/>
                <a:ea typeface="Calibri"/>
                <a:cs typeface="Calibri"/>
                <a:sym typeface="Calibri"/>
              </a:rPr>
              <a:t>Capstone 802D</a:t>
            </a:r>
            <a:endParaRPr sz="1700">
              <a:latin typeface="Calibri"/>
              <a:ea typeface="Calibri"/>
              <a:cs typeface="Calibri"/>
              <a:sym typeface="Calibri"/>
            </a:endParaRPr>
          </a:p>
        </p:txBody>
      </p:sp>
      <p:sp>
        <p:nvSpPr>
          <p:cNvPr id="37" name="Google Shape;37;p1"/>
          <p:cNvSpPr txBox="1"/>
          <p:nvPr/>
        </p:nvSpPr>
        <p:spPr>
          <a:xfrm>
            <a:off x="194811" y="3661856"/>
            <a:ext cx="2430300" cy="1908184"/>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0" i="0" lang="es-CL" sz="1600" u="none" cap="none" strike="noStrike">
                <a:solidFill>
                  <a:schemeClr val="lt1"/>
                </a:solidFill>
                <a:latin typeface="Calibri"/>
                <a:ea typeface="Calibri"/>
                <a:cs typeface="Calibri"/>
                <a:sym typeface="Calibri"/>
              </a:rPr>
              <a:t>Integrantes: </a:t>
            </a:r>
            <a:endParaRPr b="0" i="0" sz="1600" u="none" cap="none" strike="noStrike">
              <a:solidFill>
                <a:schemeClr val="lt1"/>
              </a:solidFill>
              <a:latin typeface="Calibri"/>
              <a:ea typeface="Calibri"/>
              <a:cs typeface="Calibri"/>
              <a:sym typeface="Calibri"/>
            </a:endParaRPr>
          </a:p>
          <a:p>
            <a:pPr indent="-336550" lvl="0" marL="457200" marR="0" rtl="0" algn="l">
              <a:lnSpc>
                <a:spcPct val="100000"/>
              </a:lnSpc>
              <a:spcBef>
                <a:spcPts val="0"/>
              </a:spcBef>
              <a:spcAft>
                <a:spcPts val="0"/>
              </a:spcAft>
              <a:buClr>
                <a:schemeClr val="lt1"/>
              </a:buClr>
              <a:buSzPts val="1700"/>
              <a:buFont typeface="Calibri"/>
              <a:buChar char="-"/>
            </a:pPr>
            <a:r>
              <a:rPr b="0" i="0" lang="es-CL" sz="1600" u="none" cap="none" strike="noStrike">
                <a:solidFill>
                  <a:schemeClr val="lt1"/>
                </a:solidFill>
                <a:latin typeface="Calibri"/>
                <a:ea typeface="Calibri"/>
                <a:cs typeface="Calibri"/>
                <a:sym typeface="Calibri"/>
              </a:rPr>
              <a:t>Juan Carlos Barraza</a:t>
            </a:r>
            <a:endParaRPr b="0" i="0" sz="1600" u="none" cap="none" strike="noStrike">
              <a:solidFill>
                <a:schemeClr val="lt1"/>
              </a:solidFill>
              <a:latin typeface="Calibri"/>
              <a:ea typeface="Calibri"/>
              <a:cs typeface="Calibri"/>
              <a:sym typeface="Calibri"/>
            </a:endParaRPr>
          </a:p>
          <a:p>
            <a:pPr indent="-336550" lvl="0" marL="457200" marR="0" rtl="0" algn="l">
              <a:lnSpc>
                <a:spcPct val="100000"/>
              </a:lnSpc>
              <a:spcBef>
                <a:spcPts val="0"/>
              </a:spcBef>
              <a:spcAft>
                <a:spcPts val="0"/>
              </a:spcAft>
              <a:buClr>
                <a:schemeClr val="lt1"/>
              </a:buClr>
              <a:buSzPts val="1700"/>
              <a:buFont typeface="Calibri"/>
              <a:buChar char="-"/>
            </a:pPr>
            <a:r>
              <a:rPr b="0" i="0" lang="es-CL" sz="1600" u="none" cap="none" strike="noStrike">
                <a:solidFill>
                  <a:schemeClr val="lt1"/>
                </a:solidFill>
                <a:latin typeface="Calibri"/>
                <a:ea typeface="Calibri"/>
                <a:cs typeface="Calibri"/>
                <a:sym typeface="Calibri"/>
              </a:rPr>
              <a:t>Pablo Calfucura</a:t>
            </a:r>
            <a:endParaRPr b="0" i="0" sz="1600" u="none" cap="none" strike="noStrike">
              <a:solidFill>
                <a:schemeClr val="lt1"/>
              </a:solidFill>
              <a:latin typeface="Calibri"/>
              <a:ea typeface="Calibri"/>
              <a:cs typeface="Calibri"/>
              <a:sym typeface="Calibri"/>
            </a:endParaRPr>
          </a:p>
          <a:p>
            <a:pPr indent="-336550" lvl="0" marL="457200" marR="0" rtl="0" algn="l">
              <a:lnSpc>
                <a:spcPct val="100000"/>
              </a:lnSpc>
              <a:spcBef>
                <a:spcPts val="0"/>
              </a:spcBef>
              <a:spcAft>
                <a:spcPts val="0"/>
              </a:spcAft>
              <a:buClr>
                <a:schemeClr val="lt1"/>
              </a:buClr>
              <a:buSzPts val="1700"/>
              <a:buFont typeface="Calibri"/>
              <a:buChar char="-"/>
            </a:pPr>
            <a:r>
              <a:rPr b="0" i="0" lang="es-CL" sz="1600" u="none" cap="none" strike="noStrike">
                <a:solidFill>
                  <a:schemeClr val="lt1"/>
                </a:solidFill>
                <a:latin typeface="Calibri"/>
                <a:ea typeface="Calibri"/>
                <a:cs typeface="Calibri"/>
                <a:sym typeface="Calibri"/>
              </a:rPr>
              <a:t>Amaru Orellana</a:t>
            </a:r>
            <a:endParaRPr/>
          </a:p>
          <a:p>
            <a:pPr indent="-336550" lvl="0" marL="457200" marR="0" rtl="0" algn="l">
              <a:lnSpc>
                <a:spcPct val="100000"/>
              </a:lnSpc>
              <a:spcBef>
                <a:spcPts val="0"/>
              </a:spcBef>
              <a:spcAft>
                <a:spcPts val="0"/>
              </a:spcAft>
              <a:buClr>
                <a:schemeClr val="lt1"/>
              </a:buClr>
              <a:buSzPts val="1700"/>
              <a:buFont typeface="Calibri"/>
              <a:buChar char="-"/>
            </a:pPr>
            <a:r>
              <a:rPr b="0" i="0" lang="es-CL" sz="1600" u="none" cap="none" strike="noStrike">
                <a:solidFill>
                  <a:schemeClr val="lt1"/>
                </a:solidFill>
                <a:latin typeface="Calibri"/>
                <a:ea typeface="Calibri"/>
                <a:cs typeface="Calibri"/>
                <a:sym typeface="Calibri"/>
              </a:rPr>
              <a:t>Martin Vallejos</a:t>
            </a:r>
            <a:endParaRPr/>
          </a:p>
          <a:p>
            <a:pPr indent="0" lvl="0" marL="120650" marR="0" rtl="0" algn="l">
              <a:lnSpc>
                <a:spcPct val="100000"/>
              </a:lnSpc>
              <a:spcBef>
                <a:spcPts val="0"/>
              </a:spcBef>
              <a:spcAft>
                <a:spcPts val="0"/>
              </a:spcAft>
              <a:buNone/>
            </a:pPr>
            <a:r>
              <a:t/>
            </a:r>
            <a:endParaRPr b="0" i="0" sz="1600" u="none" cap="none" strike="noStrike">
              <a:solidFill>
                <a:schemeClr val="lt1"/>
              </a:solidFill>
              <a:latin typeface="Calibri"/>
              <a:ea typeface="Calibri"/>
              <a:cs typeface="Calibri"/>
              <a:sym typeface="Calibri"/>
            </a:endParaRPr>
          </a:p>
          <a:p>
            <a:pPr indent="0" lvl="0" marL="120650" marR="0" rtl="0" algn="l">
              <a:lnSpc>
                <a:spcPct val="100000"/>
              </a:lnSpc>
              <a:spcBef>
                <a:spcPts val="0"/>
              </a:spcBef>
              <a:spcAft>
                <a:spcPts val="0"/>
              </a:spcAft>
              <a:buNone/>
            </a:pPr>
            <a:r>
              <a:rPr b="0" i="0" lang="es-CL" sz="1600" u="none" cap="none" strike="noStrike">
                <a:solidFill>
                  <a:schemeClr val="lt1"/>
                </a:solidFill>
                <a:latin typeface="Calibri"/>
                <a:ea typeface="Calibri"/>
                <a:cs typeface="Calibri"/>
                <a:sym typeface="Calibri"/>
              </a:rPr>
              <a:t>Grupo 5</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41" name="Shape 41"/>
        <p:cNvGrpSpPr/>
        <p:nvPr/>
      </p:nvGrpSpPr>
      <p:grpSpPr>
        <a:xfrm>
          <a:off x="0" y="0"/>
          <a:ext cx="0" cy="0"/>
          <a:chOff x="0" y="0"/>
          <a:chExt cx="0" cy="0"/>
        </a:xfrm>
      </p:grpSpPr>
      <p:sp>
        <p:nvSpPr>
          <p:cNvPr id="42" name="Google Shape;42;g33dfa1b7a33_0_3"/>
          <p:cNvSpPr txBox="1"/>
          <p:nvPr>
            <p:ph type="title"/>
          </p:nvPr>
        </p:nvSpPr>
        <p:spPr>
          <a:xfrm>
            <a:off x="4095641" y="774053"/>
            <a:ext cx="952718" cy="443711"/>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SzPts val="1400"/>
              <a:buNone/>
            </a:pPr>
            <a:r>
              <a:rPr lang="es-CL" sz="2800"/>
              <a:t>Índice</a:t>
            </a:r>
            <a:endParaRPr sz="2800"/>
          </a:p>
        </p:txBody>
      </p:sp>
      <p:grpSp>
        <p:nvGrpSpPr>
          <p:cNvPr id="43" name="Google Shape;43;g33dfa1b7a33_0_3"/>
          <p:cNvGrpSpPr/>
          <p:nvPr/>
        </p:nvGrpSpPr>
        <p:grpSpPr>
          <a:xfrm>
            <a:off x="77533" y="60960"/>
            <a:ext cx="2437066" cy="548640"/>
            <a:chOff x="77533" y="60960"/>
            <a:chExt cx="2437066" cy="548640"/>
          </a:xfrm>
        </p:grpSpPr>
        <p:pic>
          <p:nvPicPr>
            <p:cNvPr id="44" name="Google Shape;44;g33dfa1b7a33_0_3"/>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45" name="Google Shape;45;g33dfa1b7a33_0_3"/>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46" name="Google Shape;46;g33dfa1b7a33_0_3"/>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sp>
        <p:nvSpPr>
          <p:cNvPr id="47" name="Google Shape;47;g33dfa1b7a33_0_3"/>
          <p:cNvSpPr txBox="1"/>
          <p:nvPr/>
        </p:nvSpPr>
        <p:spPr>
          <a:xfrm>
            <a:off x="1691950" y="1471425"/>
            <a:ext cx="6524100" cy="4753800"/>
          </a:xfrm>
          <a:prstGeom prst="rect">
            <a:avLst/>
          </a:prstGeom>
          <a:noFill/>
          <a:ln>
            <a:noFill/>
          </a:ln>
        </p:spPr>
        <p:txBody>
          <a:bodyPr anchorCtr="0" anchor="t" bIns="0" lIns="0" spcFirstLastPara="1" rIns="0" wrap="square" tIns="12700">
            <a:spAutoFit/>
          </a:bodyPr>
          <a:lstStyle/>
          <a:p>
            <a:pPr indent="-457200" lvl="0" marL="457200" marR="0" rtl="0" algn="l">
              <a:lnSpc>
                <a:spcPct val="100000"/>
              </a:lnSpc>
              <a:spcBef>
                <a:spcPts val="0"/>
              </a:spcBef>
              <a:spcAft>
                <a:spcPts val="0"/>
              </a:spcAft>
              <a:buClr>
                <a:srgbClr val="000000"/>
              </a:buClr>
              <a:buSzPts val="2400"/>
              <a:buFont typeface="Arial"/>
              <a:buAutoNum type="arabicPeriod"/>
            </a:pPr>
            <a:r>
              <a:rPr b="0" i="0" lang="es-CL" sz="2800" u="none" cap="none" strike="noStrike">
                <a:solidFill>
                  <a:srgbClr val="000000"/>
                </a:solidFill>
                <a:latin typeface="Arial"/>
                <a:ea typeface="Arial"/>
                <a:cs typeface="Arial"/>
                <a:sym typeface="Arial"/>
              </a:rPr>
              <a:t>Contexto </a:t>
            </a:r>
            <a:endParaRPr sz="2800"/>
          </a:p>
          <a:p>
            <a:pPr indent="-457200" lvl="0" marL="457200" marR="0" rtl="0" algn="l">
              <a:lnSpc>
                <a:spcPct val="100000"/>
              </a:lnSpc>
              <a:spcBef>
                <a:spcPts val="0"/>
              </a:spcBef>
              <a:spcAft>
                <a:spcPts val="0"/>
              </a:spcAft>
              <a:buClr>
                <a:srgbClr val="000000"/>
              </a:buClr>
              <a:buSzPts val="2400"/>
              <a:buFont typeface="Arial"/>
              <a:buAutoNum type="arabicPeriod"/>
            </a:pPr>
            <a:r>
              <a:rPr lang="es-CL" sz="2800"/>
              <a:t>P</a:t>
            </a:r>
            <a:r>
              <a:rPr b="0" i="0" lang="es-CL" sz="2800" u="none" cap="none" strike="noStrike">
                <a:solidFill>
                  <a:srgbClr val="000000"/>
                </a:solidFill>
                <a:latin typeface="Arial"/>
                <a:ea typeface="Arial"/>
                <a:cs typeface="Arial"/>
                <a:sym typeface="Arial"/>
              </a:rPr>
              <a:t>roblemática</a:t>
            </a:r>
            <a:endParaRPr sz="2800"/>
          </a:p>
          <a:p>
            <a:pPr indent="-457200" lvl="0" marL="457200" marR="0" rtl="0" algn="l">
              <a:lnSpc>
                <a:spcPct val="100000"/>
              </a:lnSpc>
              <a:spcBef>
                <a:spcPts val="0"/>
              </a:spcBef>
              <a:spcAft>
                <a:spcPts val="0"/>
              </a:spcAft>
              <a:buClr>
                <a:srgbClr val="000000"/>
              </a:buClr>
              <a:buSzPts val="2400"/>
              <a:buFont typeface="Arial"/>
              <a:buAutoNum type="arabicPeriod"/>
            </a:pPr>
            <a:r>
              <a:rPr lang="es-CL" sz="2800">
                <a:solidFill>
                  <a:schemeClr val="dk1"/>
                </a:solidFill>
              </a:rPr>
              <a:t>Funcionamiento del módulo </a:t>
            </a:r>
            <a:endParaRPr sz="2800"/>
          </a:p>
          <a:p>
            <a:pPr indent="-457200" lvl="0" marL="457200" marR="0" rtl="0" algn="l">
              <a:lnSpc>
                <a:spcPct val="100000"/>
              </a:lnSpc>
              <a:spcBef>
                <a:spcPts val="0"/>
              </a:spcBef>
              <a:spcAft>
                <a:spcPts val="0"/>
              </a:spcAft>
              <a:buClr>
                <a:srgbClr val="000000"/>
              </a:buClr>
              <a:buSzPts val="2400"/>
              <a:buFont typeface="Arial"/>
              <a:buAutoNum type="arabicPeriod"/>
            </a:pPr>
            <a:r>
              <a:rPr lang="es-CL" sz="2800"/>
              <a:t>Modelo Canva</a:t>
            </a:r>
            <a:endParaRPr sz="2800"/>
          </a:p>
          <a:p>
            <a:pPr indent="-457200" lvl="0" marL="457200" marR="0" rtl="0" algn="l">
              <a:lnSpc>
                <a:spcPct val="100000"/>
              </a:lnSpc>
              <a:spcBef>
                <a:spcPts val="0"/>
              </a:spcBef>
              <a:spcAft>
                <a:spcPts val="0"/>
              </a:spcAft>
              <a:buClr>
                <a:srgbClr val="000000"/>
              </a:buClr>
              <a:buSzPts val="2400"/>
              <a:buFont typeface="Arial"/>
              <a:buAutoNum type="arabicPeriod"/>
            </a:pPr>
            <a:r>
              <a:rPr lang="es-CL" sz="2800"/>
              <a:t>S</a:t>
            </a:r>
            <a:r>
              <a:rPr b="0" i="0" lang="es-CL" sz="2800" u="none" cap="none" strike="noStrike">
                <a:solidFill>
                  <a:srgbClr val="000000"/>
                </a:solidFill>
                <a:latin typeface="Arial"/>
                <a:ea typeface="Arial"/>
                <a:cs typeface="Arial"/>
                <a:sym typeface="Arial"/>
              </a:rPr>
              <a:t>olución propuesta</a:t>
            </a:r>
            <a:endParaRPr sz="2800"/>
          </a:p>
          <a:p>
            <a:pPr indent="-457200" lvl="0" marL="457200" marR="0" rtl="0" algn="l">
              <a:lnSpc>
                <a:spcPct val="100000"/>
              </a:lnSpc>
              <a:spcBef>
                <a:spcPts val="0"/>
              </a:spcBef>
              <a:spcAft>
                <a:spcPts val="0"/>
              </a:spcAft>
              <a:buClr>
                <a:srgbClr val="000000"/>
              </a:buClr>
              <a:buSzPts val="2400"/>
              <a:buFont typeface="Arial"/>
              <a:buAutoNum type="arabicPeriod"/>
            </a:pPr>
            <a:r>
              <a:rPr lang="es-CL" sz="2800"/>
              <a:t>Metodologia y planificacion</a:t>
            </a:r>
            <a:endParaRPr/>
          </a:p>
          <a:p>
            <a:pPr indent="-457200" lvl="0" marL="457200" marR="0" rtl="0" algn="l">
              <a:lnSpc>
                <a:spcPct val="100000"/>
              </a:lnSpc>
              <a:spcBef>
                <a:spcPts val="0"/>
              </a:spcBef>
              <a:spcAft>
                <a:spcPts val="0"/>
              </a:spcAft>
              <a:buClr>
                <a:srgbClr val="000000"/>
              </a:buClr>
              <a:buSzPts val="2400"/>
              <a:buFont typeface="Arial"/>
              <a:buAutoNum type="arabicPeriod"/>
            </a:pPr>
            <a:r>
              <a:rPr b="0" i="0" lang="es-CL" sz="2800" u="none" cap="none" strike="noStrike">
                <a:solidFill>
                  <a:srgbClr val="000000"/>
                </a:solidFill>
                <a:latin typeface="Arial"/>
                <a:ea typeface="Arial"/>
                <a:cs typeface="Arial"/>
                <a:sym typeface="Arial"/>
              </a:rPr>
              <a:t>Tecnología</a:t>
            </a:r>
            <a:r>
              <a:rPr lang="es-CL" sz="2800"/>
              <a:t> y arquitectura de </a:t>
            </a:r>
            <a:r>
              <a:rPr lang="es-CL" sz="2800"/>
              <a:t>solución</a:t>
            </a:r>
            <a:endParaRPr sz="2800"/>
          </a:p>
          <a:p>
            <a:pPr indent="-457200" lvl="0" marL="457200" marR="0" rtl="0" algn="l">
              <a:lnSpc>
                <a:spcPct val="100000"/>
              </a:lnSpc>
              <a:spcBef>
                <a:spcPts val="0"/>
              </a:spcBef>
              <a:spcAft>
                <a:spcPts val="0"/>
              </a:spcAft>
              <a:buClr>
                <a:srgbClr val="000000"/>
              </a:buClr>
              <a:buSzPts val="2400"/>
              <a:buFont typeface="Arial"/>
              <a:buAutoNum type="arabicPeriod"/>
            </a:pPr>
            <a:r>
              <a:rPr lang="es-CL" sz="2800"/>
              <a:t>Riesgos</a:t>
            </a:r>
            <a:r>
              <a:rPr lang="es-CL" sz="2800"/>
              <a:t> principales</a:t>
            </a:r>
            <a:endParaRPr sz="2800"/>
          </a:p>
          <a:p>
            <a:pPr indent="-457200" lvl="0" marL="457200" marR="0" rtl="0" algn="l">
              <a:lnSpc>
                <a:spcPct val="100000"/>
              </a:lnSpc>
              <a:spcBef>
                <a:spcPts val="0"/>
              </a:spcBef>
              <a:spcAft>
                <a:spcPts val="0"/>
              </a:spcAft>
              <a:buClr>
                <a:srgbClr val="000000"/>
              </a:buClr>
              <a:buSzPts val="2400"/>
              <a:buFont typeface="Arial"/>
              <a:buAutoNum type="arabicPeriod"/>
            </a:pPr>
            <a:r>
              <a:rPr lang="es-CL" sz="2800"/>
              <a:t>Seguridad y privacidad </a:t>
            </a:r>
            <a:endParaRPr sz="2800"/>
          </a:p>
          <a:p>
            <a:pPr indent="-457200" lvl="0" marL="457200" marR="0" rtl="0" algn="l">
              <a:lnSpc>
                <a:spcPct val="100000"/>
              </a:lnSpc>
              <a:spcBef>
                <a:spcPts val="0"/>
              </a:spcBef>
              <a:spcAft>
                <a:spcPts val="0"/>
              </a:spcAft>
              <a:buClr>
                <a:srgbClr val="000000"/>
              </a:buClr>
              <a:buSzPts val="2400"/>
              <a:buFont typeface="Arial"/>
              <a:buAutoNum type="arabicPeriod"/>
            </a:pPr>
            <a:r>
              <a:rPr b="0" i="0" lang="es-CL" sz="2800" u="none" cap="none" strike="noStrike">
                <a:solidFill>
                  <a:srgbClr val="000000"/>
                </a:solidFill>
                <a:latin typeface="Arial"/>
                <a:ea typeface="Arial"/>
                <a:cs typeface="Arial"/>
                <a:sym typeface="Arial"/>
              </a:rPr>
              <a:t>Mockups </a:t>
            </a:r>
            <a:endParaRPr/>
          </a:p>
          <a:p>
            <a:pPr indent="-457200" lvl="0" marL="457200" marR="0" rtl="0" algn="l">
              <a:lnSpc>
                <a:spcPct val="100000"/>
              </a:lnSpc>
              <a:spcBef>
                <a:spcPts val="0"/>
              </a:spcBef>
              <a:spcAft>
                <a:spcPts val="0"/>
              </a:spcAft>
              <a:buClr>
                <a:srgbClr val="000000"/>
              </a:buClr>
              <a:buSzPts val="2400"/>
              <a:buFont typeface="Arial"/>
              <a:buAutoNum type="arabicPeriod"/>
            </a:pPr>
            <a:r>
              <a:rPr b="0" i="0" lang="es-CL" sz="2800" u="none" cap="none" strike="noStrike">
                <a:solidFill>
                  <a:srgbClr val="000000"/>
                </a:solidFill>
                <a:latin typeface="Arial"/>
                <a:ea typeface="Arial"/>
                <a:cs typeface="Arial"/>
                <a:sym typeface="Arial"/>
              </a:rPr>
              <a:t>conclusiones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51" name="Shape 51"/>
        <p:cNvGrpSpPr/>
        <p:nvPr/>
      </p:nvGrpSpPr>
      <p:grpSpPr>
        <a:xfrm>
          <a:off x="0" y="0"/>
          <a:ext cx="0" cy="0"/>
          <a:chOff x="0" y="0"/>
          <a:chExt cx="0" cy="0"/>
        </a:xfrm>
      </p:grpSpPr>
      <p:sp>
        <p:nvSpPr>
          <p:cNvPr id="52" name="Google Shape;52;p5"/>
          <p:cNvSpPr txBox="1"/>
          <p:nvPr>
            <p:ph type="title"/>
          </p:nvPr>
        </p:nvSpPr>
        <p:spPr>
          <a:xfrm>
            <a:off x="3875555" y="672960"/>
            <a:ext cx="1392900" cy="443700"/>
          </a:xfrm>
          <a:prstGeom prst="rect">
            <a:avLst/>
          </a:prstGeom>
          <a:noFill/>
          <a:ln>
            <a:noFill/>
          </a:ln>
        </p:spPr>
        <p:txBody>
          <a:bodyPr anchorCtr="0" anchor="t" bIns="0" lIns="0" spcFirstLastPara="1" rIns="0" wrap="square" tIns="12700">
            <a:spAutoFit/>
          </a:bodyPr>
          <a:lstStyle/>
          <a:p>
            <a:pPr indent="0" lvl="0" marL="0" rtl="0" algn="l">
              <a:lnSpc>
                <a:spcPct val="100000"/>
              </a:lnSpc>
              <a:spcBef>
                <a:spcPts val="0"/>
              </a:spcBef>
              <a:spcAft>
                <a:spcPts val="0"/>
              </a:spcAft>
              <a:buSzPts val="2400"/>
              <a:buNone/>
            </a:pPr>
            <a:r>
              <a:rPr lang="es-CL" sz="2800"/>
              <a:t>Contexto </a:t>
            </a:r>
            <a:endParaRPr/>
          </a:p>
        </p:txBody>
      </p:sp>
      <p:grpSp>
        <p:nvGrpSpPr>
          <p:cNvPr id="53" name="Google Shape;53;p5"/>
          <p:cNvGrpSpPr/>
          <p:nvPr/>
        </p:nvGrpSpPr>
        <p:grpSpPr>
          <a:xfrm>
            <a:off x="77533" y="60960"/>
            <a:ext cx="2437066" cy="548640"/>
            <a:chOff x="77533" y="60960"/>
            <a:chExt cx="2437066" cy="548640"/>
          </a:xfrm>
        </p:grpSpPr>
        <p:pic>
          <p:nvPicPr>
            <p:cNvPr id="54" name="Google Shape;54;p5"/>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55" name="Google Shape;55;p5"/>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56" name="Google Shape;56;p5"/>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sp>
        <p:nvSpPr>
          <p:cNvPr id="57" name="Google Shape;57;p5"/>
          <p:cNvSpPr txBox="1"/>
          <p:nvPr/>
        </p:nvSpPr>
        <p:spPr>
          <a:xfrm>
            <a:off x="490987" y="1383530"/>
            <a:ext cx="8162100" cy="4199700"/>
          </a:xfrm>
          <a:prstGeom prst="rect">
            <a:avLst/>
          </a:prstGeom>
          <a:noFill/>
          <a:ln>
            <a:noFill/>
          </a:ln>
        </p:spPr>
        <p:txBody>
          <a:bodyPr anchorCtr="0" anchor="t" bIns="0" lIns="0" spcFirstLastPara="1" rIns="0" wrap="square" tIns="12700">
            <a:spAutoFit/>
          </a:bodyPr>
          <a:lstStyle/>
          <a:p>
            <a:pPr indent="0" lvl="0" marL="0" marR="0" rtl="0" algn="l">
              <a:lnSpc>
                <a:spcPct val="100000"/>
              </a:lnSpc>
              <a:spcBef>
                <a:spcPts val="0"/>
              </a:spcBef>
              <a:spcAft>
                <a:spcPts val="0"/>
              </a:spcAft>
              <a:buNone/>
            </a:pPr>
            <a:r>
              <a:rPr lang="es-CL" sz="1600"/>
              <a:t>El o</a:t>
            </a:r>
            <a:r>
              <a:rPr i="0" lang="es-CL" sz="1600" u="none" cap="none" strike="noStrike">
                <a:solidFill>
                  <a:srgbClr val="000000"/>
                </a:solidFill>
              </a:rPr>
              <a:t>rigen de la idea</a:t>
            </a:r>
            <a:r>
              <a:rPr lang="es-CL"/>
              <a:t> </a:t>
            </a:r>
            <a:r>
              <a:rPr b="0" i="0" lang="es-CL" sz="1600" u="none" cap="none" strike="noStrike">
                <a:solidFill>
                  <a:srgbClr val="000000"/>
                </a:solidFill>
                <a:latin typeface="Arial"/>
                <a:ea typeface="Arial"/>
                <a:cs typeface="Arial"/>
                <a:sym typeface="Arial"/>
              </a:rPr>
              <a:t>surge a partir de observar servicios higiénicos de distintos pisos temporalmente fuera de disponibilidad durante labores de limpieza.</a:t>
            </a:r>
            <a:endParaRPr/>
          </a:p>
          <a:p>
            <a:pPr indent="0" lvl="0" marL="0" marR="0" rtl="0" algn="l">
              <a:lnSpc>
                <a:spcPct val="100000"/>
              </a:lnSpc>
              <a:spcBef>
                <a:spcPts val="0"/>
              </a:spcBef>
              <a:spcAft>
                <a:spcPts val="0"/>
              </a:spcAft>
              <a:buNone/>
            </a:pPr>
            <a:r>
              <a:t/>
            </a:r>
            <a:endParaRPr b="0" i="0" sz="1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s-CL" sz="1600" u="none" cap="none" strike="noStrike">
                <a:solidFill>
                  <a:srgbClr val="000000"/>
                </a:solidFill>
                <a:latin typeface="Arial"/>
                <a:ea typeface="Arial"/>
                <a:cs typeface="Arial"/>
                <a:sym typeface="Arial"/>
              </a:rPr>
              <a:t>Contexto operacional</a:t>
            </a:r>
            <a:endParaRPr/>
          </a:p>
          <a:p>
            <a:pPr indent="0" lvl="0" marL="0" marR="0" rtl="0" algn="l">
              <a:lnSpc>
                <a:spcPct val="100000"/>
              </a:lnSpc>
              <a:spcBef>
                <a:spcPts val="0"/>
              </a:spcBef>
              <a:spcAft>
                <a:spcPts val="0"/>
              </a:spcAft>
              <a:buNone/>
            </a:pPr>
            <a:r>
              <a:rPr b="1" i="0" lang="es-CL" sz="1600" u="none" cap="none" strike="noStrike">
                <a:solidFill>
                  <a:srgbClr val="000000"/>
                </a:solidFill>
                <a:latin typeface="Arial"/>
                <a:ea typeface="Arial"/>
                <a:cs typeface="Arial"/>
                <a:sym typeface="Arial"/>
              </a:rPr>
              <a:t>Lugar de aplicación inicial</a:t>
            </a:r>
            <a:br>
              <a:rPr b="0" i="0" lang="es-CL" sz="1600" u="none" cap="none" strike="noStrike">
                <a:solidFill>
                  <a:srgbClr val="000000"/>
                </a:solidFill>
                <a:latin typeface="Arial"/>
                <a:ea typeface="Arial"/>
                <a:cs typeface="Arial"/>
                <a:sym typeface="Arial"/>
              </a:rPr>
            </a:br>
            <a:r>
              <a:rPr b="0" i="0" lang="es-CL" sz="1600" u="none" cap="none" strike="noStrike">
                <a:solidFill>
                  <a:srgbClr val="000000"/>
                </a:solidFill>
                <a:latin typeface="Arial"/>
                <a:ea typeface="Arial"/>
                <a:cs typeface="Arial"/>
                <a:sym typeface="Arial"/>
              </a:rPr>
              <a:t>Sede de DUOC UC.</a:t>
            </a:r>
            <a:endParaRPr/>
          </a:p>
          <a:p>
            <a:pPr indent="0" lvl="0" marL="0" marR="0" rtl="0" algn="l">
              <a:lnSpc>
                <a:spcPct val="100000"/>
              </a:lnSpc>
              <a:spcBef>
                <a:spcPts val="0"/>
              </a:spcBef>
              <a:spcAft>
                <a:spcPts val="0"/>
              </a:spcAft>
              <a:buNone/>
            </a:pPr>
            <a:r>
              <a:rPr b="1" i="0" lang="es-CL" sz="1600" u="none" cap="none" strike="noStrike">
                <a:solidFill>
                  <a:srgbClr val="000000"/>
                </a:solidFill>
                <a:latin typeface="Arial"/>
                <a:ea typeface="Arial"/>
                <a:cs typeface="Arial"/>
                <a:sym typeface="Arial"/>
              </a:rPr>
              <a:t>Área involucrada</a:t>
            </a:r>
            <a:br>
              <a:rPr b="0" i="0" lang="es-CL" sz="1600" u="none" cap="none" strike="noStrike">
                <a:solidFill>
                  <a:srgbClr val="000000"/>
                </a:solidFill>
                <a:latin typeface="Arial"/>
                <a:ea typeface="Arial"/>
                <a:cs typeface="Arial"/>
                <a:sym typeface="Arial"/>
              </a:rPr>
            </a:br>
            <a:r>
              <a:rPr b="0" i="0" lang="es-CL" sz="1600" u="none" cap="none" strike="noStrike">
                <a:solidFill>
                  <a:srgbClr val="000000"/>
                </a:solidFill>
                <a:latin typeface="Arial"/>
                <a:ea typeface="Arial"/>
                <a:cs typeface="Arial"/>
                <a:sym typeface="Arial"/>
              </a:rPr>
              <a:t>Servicios Generales y Mantención.</a:t>
            </a:r>
            <a:endParaRPr/>
          </a:p>
          <a:p>
            <a:pPr indent="0" lvl="0" marL="0" marR="0" rtl="0" algn="l">
              <a:lnSpc>
                <a:spcPct val="100000"/>
              </a:lnSpc>
              <a:spcBef>
                <a:spcPts val="0"/>
              </a:spcBef>
              <a:spcAft>
                <a:spcPts val="0"/>
              </a:spcAft>
              <a:buNone/>
            </a:pPr>
            <a:r>
              <a:t/>
            </a:r>
            <a:endParaRPr b="0" i="0" sz="1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s-CL" sz="1600" u="none" cap="none" strike="noStrike">
                <a:solidFill>
                  <a:srgbClr val="000000"/>
                </a:solidFill>
                <a:latin typeface="Arial"/>
                <a:ea typeface="Arial"/>
                <a:cs typeface="Arial"/>
                <a:sym typeface="Arial"/>
              </a:rPr>
              <a:t>Organización actual</a:t>
            </a:r>
            <a:endParaRPr b="0" i="0" sz="1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s-CL" sz="1600" u="none" cap="none" strike="noStrike">
                <a:solidFill>
                  <a:srgbClr val="000000"/>
                </a:solidFill>
                <a:latin typeface="Arial"/>
                <a:ea typeface="Arial"/>
                <a:cs typeface="Arial"/>
                <a:sym typeface="Arial"/>
              </a:rPr>
              <a:t>Personal distribuido por turnos y sectores. </a:t>
            </a:r>
            <a:endParaRPr/>
          </a:p>
          <a:p>
            <a:pPr indent="0" lvl="0" marL="0" marR="0" rtl="0" algn="l">
              <a:lnSpc>
                <a:spcPct val="100000"/>
              </a:lnSpc>
              <a:spcBef>
                <a:spcPts val="0"/>
              </a:spcBef>
              <a:spcAft>
                <a:spcPts val="0"/>
              </a:spcAft>
              <a:buNone/>
            </a:pPr>
            <a:r>
              <a:rPr b="0" i="0" lang="es-CL" sz="1600" u="none" cap="none" strike="noStrike">
                <a:solidFill>
                  <a:srgbClr val="000000"/>
                </a:solidFill>
                <a:latin typeface="Arial"/>
                <a:ea typeface="Arial"/>
                <a:cs typeface="Arial"/>
                <a:sym typeface="Arial"/>
              </a:rPr>
              <a:t>Limpieza profunda al inicio de la jornada. </a:t>
            </a:r>
            <a:endParaRPr/>
          </a:p>
          <a:p>
            <a:pPr indent="0" lvl="0" marL="0" marR="0" rtl="0" algn="l">
              <a:lnSpc>
                <a:spcPct val="100000"/>
              </a:lnSpc>
              <a:spcBef>
                <a:spcPts val="0"/>
              </a:spcBef>
              <a:spcAft>
                <a:spcPts val="0"/>
              </a:spcAft>
              <a:buNone/>
            </a:pPr>
            <a:r>
              <a:rPr b="0" i="0" lang="es-CL" sz="1600" u="none" cap="none" strike="noStrike">
                <a:solidFill>
                  <a:srgbClr val="000000"/>
                </a:solidFill>
                <a:latin typeface="Arial"/>
                <a:ea typeface="Arial"/>
                <a:cs typeface="Arial"/>
                <a:sym typeface="Arial"/>
              </a:rPr>
              <a:t>Limpiezas rutinarias durante el día. </a:t>
            </a:r>
            <a:endParaRPr/>
          </a:p>
          <a:p>
            <a:pPr indent="0" lvl="0" marL="0" marR="0" rtl="0" algn="l">
              <a:lnSpc>
                <a:spcPct val="100000"/>
              </a:lnSpc>
              <a:spcBef>
                <a:spcPts val="0"/>
              </a:spcBef>
              <a:spcAft>
                <a:spcPts val="0"/>
              </a:spcAft>
              <a:buNone/>
            </a:pPr>
            <a:r>
              <a:rPr b="0" i="0" lang="es-CL" sz="1600" u="none" cap="none" strike="noStrike">
                <a:solidFill>
                  <a:srgbClr val="000000"/>
                </a:solidFill>
                <a:latin typeface="Arial"/>
                <a:ea typeface="Arial"/>
                <a:cs typeface="Arial"/>
                <a:sym typeface="Arial"/>
              </a:rPr>
              <a:t>Atención de incidencias cuando corresponde. </a:t>
            </a:r>
            <a:endParaRPr/>
          </a:p>
          <a:p>
            <a:pPr indent="0" lvl="0" marL="0" marR="0" rtl="0" algn="l">
              <a:lnSpc>
                <a:spcPct val="100000"/>
              </a:lnSpc>
              <a:spcBef>
                <a:spcPts val="0"/>
              </a:spcBef>
              <a:spcAft>
                <a:spcPts val="0"/>
              </a:spcAft>
              <a:buNone/>
            </a:pPr>
            <a:r>
              <a:t/>
            </a:r>
            <a:endParaRPr b="0" i="0" sz="1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s-CL" sz="1600" u="none" cap="none" strike="noStrike">
                <a:solidFill>
                  <a:srgbClr val="000000"/>
                </a:solidFill>
                <a:latin typeface="Arial"/>
                <a:ea typeface="Arial"/>
                <a:cs typeface="Arial"/>
                <a:sym typeface="Arial"/>
              </a:rPr>
              <a:t>A partir de este contexto se realizó el levantamiento del proceso actual para identificar sus principales brechas.</a:t>
            </a:r>
            <a:endParaRPr b="0" i="0" sz="16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61" name="Shape 61"/>
        <p:cNvGrpSpPr/>
        <p:nvPr/>
      </p:nvGrpSpPr>
      <p:grpSpPr>
        <a:xfrm>
          <a:off x="0" y="0"/>
          <a:ext cx="0" cy="0"/>
          <a:chOff x="0" y="0"/>
          <a:chExt cx="0" cy="0"/>
        </a:xfrm>
      </p:grpSpPr>
      <p:sp>
        <p:nvSpPr>
          <p:cNvPr id="62" name="Google Shape;62;g3fa15809516_0_5"/>
          <p:cNvSpPr txBox="1"/>
          <p:nvPr>
            <p:ph type="title"/>
          </p:nvPr>
        </p:nvSpPr>
        <p:spPr>
          <a:xfrm>
            <a:off x="3565800" y="754713"/>
            <a:ext cx="2012400" cy="443700"/>
          </a:xfrm>
          <a:prstGeom prst="rect">
            <a:avLst/>
          </a:prstGeom>
          <a:noFill/>
          <a:ln>
            <a:noFill/>
          </a:ln>
        </p:spPr>
        <p:txBody>
          <a:bodyPr anchorCtr="0" anchor="t" bIns="0" lIns="0" spcFirstLastPara="1" rIns="0" wrap="square" tIns="12700">
            <a:spAutoFit/>
          </a:bodyPr>
          <a:lstStyle/>
          <a:p>
            <a:pPr indent="0" lvl="0" marL="0" rtl="0" algn="l">
              <a:spcBef>
                <a:spcPts val="0"/>
              </a:spcBef>
              <a:spcAft>
                <a:spcPts val="0"/>
              </a:spcAft>
              <a:buClr>
                <a:schemeClr val="dk1"/>
              </a:buClr>
              <a:buSzPts val="1100"/>
              <a:buFont typeface="Arial"/>
              <a:buNone/>
            </a:pPr>
            <a:r>
              <a:rPr lang="es-CL" sz="2800"/>
              <a:t>Problemática </a:t>
            </a:r>
            <a:endParaRPr sz="2800"/>
          </a:p>
        </p:txBody>
      </p:sp>
      <p:grpSp>
        <p:nvGrpSpPr>
          <p:cNvPr id="63" name="Google Shape;63;g3fa15809516_0_5"/>
          <p:cNvGrpSpPr/>
          <p:nvPr/>
        </p:nvGrpSpPr>
        <p:grpSpPr>
          <a:xfrm>
            <a:off x="77533" y="60960"/>
            <a:ext cx="2437066" cy="548640"/>
            <a:chOff x="77533" y="60960"/>
            <a:chExt cx="2437066" cy="548640"/>
          </a:xfrm>
        </p:grpSpPr>
        <p:pic>
          <p:nvPicPr>
            <p:cNvPr id="64" name="Google Shape;64;g3fa15809516_0_5"/>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65" name="Google Shape;65;g3fa15809516_0_5"/>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66" name="Google Shape;66;g3fa15809516_0_5"/>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sp>
        <p:nvSpPr>
          <p:cNvPr id="67" name="Google Shape;67;g3fa15809516_0_5"/>
          <p:cNvSpPr txBox="1"/>
          <p:nvPr/>
        </p:nvSpPr>
        <p:spPr>
          <a:xfrm>
            <a:off x="400050" y="1460100"/>
            <a:ext cx="8343900" cy="3937800"/>
          </a:xfrm>
          <a:prstGeom prst="rect">
            <a:avLst/>
          </a:prstGeom>
          <a:noFill/>
          <a:ln>
            <a:noFill/>
          </a:ln>
        </p:spPr>
        <p:txBody>
          <a:bodyPr anchorCtr="0" anchor="t" bIns="0" lIns="0" spcFirstLastPara="1" rIns="0" wrap="square" tIns="12700">
            <a:spAutoFit/>
          </a:bodyPr>
          <a:lstStyle/>
          <a:p>
            <a:pPr indent="0" lvl="0" marL="0" rtl="0" algn="l">
              <a:spcBef>
                <a:spcPts val="0"/>
              </a:spcBef>
              <a:spcAft>
                <a:spcPts val="0"/>
              </a:spcAft>
              <a:buSzPts val="1100"/>
              <a:buNone/>
            </a:pPr>
            <a:r>
              <a:rPr lang="es-CL" sz="1700">
                <a:solidFill>
                  <a:schemeClr val="dk1"/>
                </a:solidFill>
              </a:rPr>
              <a:t>El proceso actual no dispone de información objetiva sobre el nivel de utilización de cada servicio higiénico ni de una trazabilidad operacional estructurada de las intervenciones de limpieza.</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SzPts val="1100"/>
              <a:buNone/>
            </a:pPr>
            <a:r>
              <a:rPr b="1" lang="es-CL" sz="1700">
                <a:solidFill>
                  <a:schemeClr val="dk1"/>
                </a:solidFill>
              </a:rPr>
              <a:t>Demanda no cuantificada:</a:t>
            </a:r>
            <a:r>
              <a:rPr lang="es-CL" sz="1700">
                <a:solidFill>
                  <a:schemeClr val="dk1"/>
                </a:solidFill>
              </a:rPr>
              <a:t> No se conoce objetivamente cuántas utilizaciones acumula cada baño.</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SzPts val="1100"/>
              <a:buNone/>
            </a:pPr>
            <a:r>
              <a:rPr b="1" lang="es-CL" sz="1700">
                <a:solidFill>
                  <a:schemeClr val="dk1"/>
                </a:solidFill>
              </a:rPr>
              <a:t>Priorización con información limitada:</a:t>
            </a:r>
            <a:r>
              <a:rPr lang="es-CL" sz="1700">
                <a:solidFill>
                  <a:schemeClr val="dk1"/>
                </a:solidFill>
              </a:rPr>
              <a:t> No existen datos de demanda real que apoyen la priorización de las intervenciones.</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SzPts val="1100"/>
              <a:buNone/>
            </a:pPr>
            <a:r>
              <a:rPr b="1" lang="es-CL" sz="1700">
                <a:solidFill>
                  <a:schemeClr val="dk1"/>
                </a:solidFill>
              </a:rPr>
              <a:t>Trazabilidad limitada:</a:t>
            </a:r>
            <a:r>
              <a:rPr lang="es-CL" sz="1700">
                <a:solidFill>
                  <a:schemeClr val="dk1"/>
                </a:solidFill>
              </a:rPr>
              <a:t> Los registros actuales no generan automáticamente un historial e indicadores operacionales consolidados.</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Clr>
                <a:schemeClr val="dk1"/>
              </a:buClr>
              <a:buSzPts val="1100"/>
              <a:buFont typeface="Arial"/>
              <a:buNone/>
            </a:pPr>
            <a:r>
              <a:rPr lang="es-CL" sz="1700">
                <a:solidFill>
                  <a:schemeClr val="dk1"/>
                </a:solidFill>
              </a:rPr>
              <a:t>La brecha está en la información disponible para gestionar el proceso, no en la ausencia de limpieza.</a:t>
            </a:r>
            <a:endParaRPr sz="17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71" name="Shape 71"/>
        <p:cNvGrpSpPr/>
        <p:nvPr/>
      </p:nvGrpSpPr>
      <p:grpSpPr>
        <a:xfrm>
          <a:off x="0" y="0"/>
          <a:ext cx="0" cy="0"/>
          <a:chOff x="0" y="0"/>
          <a:chExt cx="0" cy="0"/>
        </a:xfrm>
      </p:grpSpPr>
      <p:grpSp>
        <p:nvGrpSpPr>
          <p:cNvPr id="72" name="Google Shape;72;g3fa15809516_0_110"/>
          <p:cNvGrpSpPr/>
          <p:nvPr/>
        </p:nvGrpSpPr>
        <p:grpSpPr>
          <a:xfrm>
            <a:off x="77533" y="60960"/>
            <a:ext cx="2437066" cy="548640"/>
            <a:chOff x="77533" y="60960"/>
            <a:chExt cx="2437066" cy="548640"/>
          </a:xfrm>
        </p:grpSpPr>
        <p:pic>
          <p:nvPicPr>
            <p:cNvPr id="73" name="Google Shape;73;g3fa15809516_0_110"/>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74" name="Google Shape;74;g3fa15809516_0_110"/>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75" name="Google Shape;75;g3fa15809516_0_110"/>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pic>
        <p:nvPicPr>
          <p:cNvPr id="76" name="Google Shape;76;g3fa15809516_0_110"/>
          <p:cNvPicPr preferRelativeResize="0"/>
          <p:nvPr/>
        </p:nvPicPr>
        <p:blipFill>
          <a:blip r:embed="rId4">
            <a:alphaModFix/>
          </a:blip>
          <a:stretch>
            <a:fillRect/>
          </a:stretch>
        </p:blipFill>
        <p:spPr>
          <a:xfrm>
            <a:off x="3581575" y="1740975"/>
            <a:ext cx="5495101" cy="3842500"/>
          </a:xfrm>
          <a:prstGeom prst="rect">
            <a:avLst/>
          </a:prstGeom>
          <a:noFill/>
          <a:ln>
            <a:noFill/>
          </a:ln>
        </p:spPr>
      </p:pic>
      <p:sp>
        <p:nvSpPr>
          <p:cNvPr id="77" name="Google Shape;77;g3fa15809516_0_110"/>
          <p:cNvSpPr txBox="1"/>
          <p:nvPr>
            <p:ph type="title"/>
          </p:nvPr>
        </p:nvSpPr>
        <p:spPr>
          <a:xfrm>
            <a:off x="1137900" y="859950"/>
            <a:ext cx="6868200" cy="443700"/>
          </a:xfrm>
          <a:prstGeom prst="rect">
            <a:avLst/>
          </a:prstGeom>
          <a:noFill/>
          <a:ln>
            <a:noFill/>
          </a:ln>
        </p:spPr>
        <p:txBody>
          <a:bodyPr anchorCtr="0" anchor="t" bIns="0" lIns="0" spcFirstLastPara="1" rIns="0" wrap="square" tIns="12700">
            <a:spAutoFit/>
          </a:bodyPr>
          <a:lstStyle/>
          <a:p>
            <a:pPr indent="0" lvl="0" marL="0" rtl="0" algn="l">
              <a:spcBef>
                <a:spcPts val="0"/>
              </a:spcBef>
              <a:spcAft>
                <a:spcPts val="0"/>
              </a:spcAft>
              <a:buSzPts val="1100"/>
              <a:buNone/>
            </a:pPr>
            <a:r>
              <a:rPr lang="es-CL" sz="2800"/>
              <a:t>Funcionamiento del módulo de visión artificial </a:t>
            </a:r>
            <a:endParaRPr sz="2800"/>
          </a:p>
        </p:txBody>
      </p:sp>
      <p:sp>
        <p:nvSpPr>
          <p:cNvPr id="78" name="Google Shape;78;g3fa15809516_0_110"/>
          <p:cNvSpPr txBox="1"/>
          <p:nvPr/>
        </p:nvSpPr>
        <p:spPr>
          <a:xfrm>
            <a:off x="203500" y="1836725"/>
            <a:ext cx="3286500" cy="3651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s-CL" sz="1200">
                <a:solidFill>
                  <a:schemeClr val="dk1"/>
                </a:solidFill>
              </a:rPr>
              <a:t>La cámara no identifica personas, sino detectar eventos de utilización. Para esto definimos zonas virtuales: una zona inicial de detección, una zona de seguimiento y una línea final que finalmente valida si corresponde a una entrada o salida.</a:t>
            </a:r>
            <a:endParaRPr sz="1200">
              <a:solidFill>
                <a:schemeClr val="dk1"/>
              </a:solidFill>
            </a:endParaRPr>
          </a:p>
          <a:p>
            <a:pPr indent="0" lvl="0" marL="0" rtl="0" algn="l">
              <a:lnSpc>
                <a:spcPct val="115000"/>
              </a:lnSpc>
              <a:spcBef>
                <a:spcPts val="1200"/>
              </a:spcBef>
              <a:spcAft>
                <a:spcPts val="0"/>
              </a:spcAft>
              <a:buNone/>
            </a:pPr>
            <a:r>
              <a:rPr lang="es-CL" sz="1200">
                <a:solidFill>
                  <a:schemeClr val="dk1"/>
                </a:solidFill>
              </a:rPr>
              <a:t>Cada evento actualizado modifica el contador de utilización del baño desde la última limpieza. Cuando este contador supera un umbral definido, por ejemplo 400 usos, el sistema genera una alerta para que el supervisor pueda gestionar la limpieza.</a:t>
            </a:r>
            <a:endParaRPr sz="1200">
              <a:solidFill>
                <a:schemeClr val="dk1"/>
              </a:solidFill>
            </a:endParaRPr>
          </a:p>
          <a:p>
            <a:pPr indent="0" lvl="0" marL="0" rtl="0" algn="l">
              <a:lnSpc>
                <a:spcPct val="115000"/>
              </a:lnSpc>
              <a:spcBef>
                <a:spcPts val="1200"/>
              </a:spcBef>
              <a:spcAft>
                <a:spcPts val="1200"/>
              </a:spcAft>
              <a:buNone/>
            </a:pPr>
            <a:r>
              <a:rPr lang="es-CL" sz="1200">
                <a:solidFill>
                  <a:schemeClr val="dk1"/>
                </a:solidFill>
              </a:rPr>
              <a:t>Después de la limpieza, el trabajador registra la intervención y el contador vuelve a iniciar su seguimiento.</a:t>
            </a:r>
            <a:endParaRPr sz="12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82" name="Shape 82"/>
        <p:cNvGrpSpPr/>
        <p:nvPr/>
      </p:nvGrpSpPr>
      <p:grpSpPr>
        <a:xfrm>
          <a:off x="0" y="0"/>
          <a:ext cx="0" cy="0"/>
          <a:chOff x="0" y="0"/>
          <a:chExt cx="0" cy="0"/>
        </a:xfrm>
      </p:grpSpPr>
      <p:sp>
        <p:nvSpPr>
          <p:cNvPr id="83" name="Google Shape;83;g3fa15809516_0_99"/>
          <p:cNvSpPr txBox="1"/>
          <p:nvPr>
            <p:ph type="title"/>
          </p:nvPr>
        </p:nvSpPr>
        <p:spPr>
          <a:xfrm>
            <a:off x="3109500" y="777600"/>
            <a:ext cx="2925000" cy="443700"/>
          </a:xfrm>
          <a:prstGeom prst="rect">
            <a:avLst/>
          </a:prstGeom>
          <a:noFill/>
          <a:ln>
            <a:noFill/>
          </a:ln>
        </p:spPr>
        <p:txBody>
          <a:bodyPr anchorCtr="0" anchor="t" bIns="0" lIns="0" spcFirstLastPara="1" rIns="0" wrap="square" tIns="12700">
            <a:spAutoFit/>
          </a:bodyPr>
          <a:lstStyle/>
          <a:p>
            <a:pPr indent="0" lvl="0" marL="0" rtl="0" algn="l">
              <a:spcBef>
                <a:spcPts val="0"/>
              </a:spcBef>
              <a:spcAft>
                <a:spcPts val="0"/>
              </a:spcAft>
              <a:buSzPts val="1100"/>
              <a:buNone/>
            </a:pPr>
            <a:r>
              <a:rPr lang="es-CL" sz="2800"/>
              <a:t>Modelo de negocio</a:t>
            </a:r>
            <a:endParaRPr sz="2800"/>
          </a:p>
        </p:txBody>
      </p:sp>
      <p:grpSp>
        <p:nvGrpSpPr>
          <p:cNvPr id="84" name="Google Shape;84;g3fa15809516_0_99"/>
          <p:cNvGrpSpPr/>
          <p:nvPr/>
        </p:nvGrpSpPr>
        <p:grpSpPr>
          <a:xfrm>
            <a:off x="77533" y="60960"/>
            <a:ext cx="2437066" cy="548640"/>
            <a:chOff x="77533" y="60960"/>
            <a:chExt cx="2437066" cy="548640"/>
          </a:xfrm>
        </p:grpSpPr>
        <p:pic>
          <p:nvPicPr>
            <p:cNvPr id="85" name="Google Shape;85;g3fa15809516_0_99"/>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86" name="Google Shape;86;g3fa15809516_0_99"/>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87" name="Google Shape;87;g3fa15809516_0_99"/>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sp>
        <p:nvSpPr>
          <p:cNvPr id="88" name="Google Shape;88;g3fa15809516_0_99"/>
          <p:cNvSpPr txBox="1"/>
          <p:nvPr/>
        </p:nvSpPr>
        <p:spPr>
          <a:xfrm>
            <a:off x="1857000" y="1475375"/>
            <a:ext cx="5430000" cy="5225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s-CL" sz="1500">
                <a:solidFill>
                  <a:schemeClr val="dk1"/>
                </a:solidFill>
              </a:rPr>
              <a:t>Propuesta de valor</a:t>
            </a:r>
            <a:endParaRPr b="1" sz="1500">
              <a:solidFill>
                <a:schemeClr val="dk1"/>
              </a:solidFill>
            </a:endParaRPr>
          </a:p>
          <a:p>
            <a:pPr indent="0" lvl="0" marL="381000" marR="381000" rtl="0" algn="l">
              <a:lnSpc>
                <a:spcPct val="115000"/>
              </a:lnSpc>
              <a:spcBef>
                <a:spcPts val="1200"/>
              </a:spcBef>
              <a:spcAft>
                <a:spcPts val="0"/>
              </a:spcAft>
              <a:buNone/>
            </a:pPr>
            <a:r>
              <a:rPr lang="es-CL" sz="1300">
                <a:solidFill>
                  <a:schemeClr val="dk1"/>
                </a:solidFill>
              </a:rPr>
              <a:t>Gestión de limpieza basada en demanda real mediante información objetiva de utilización y trazabilidad operacional.</a:t>
            </a:r>
            <a:endParaRPr b="1" sz="1500">
              <a:solidFill>
                <a:schemeClr val="dk1"/>
              </a:solidFill>
            </a:endParaRPr>
          </a:p>
          <a:p>
            <a:pPr indent="0" lvl="0" marL="0" rtl="0" algn="l">
              <a:lnSpc>
                <a:spcPct val="115000"/>
              </a:lnSpc>
              <a:spcBef>
                <a:spcPts val="1400"/>
              </a:spcBef>
              <a:spcAft>
                <a:spcPts val="0"/>
              </a:spcAft>
              <a:buNone/>
            </a:pPr>
            <a:r>
              <a:rPr b="1" lang="es-CL" sz="1500">
                <a:solidFill>
                  <a:schemeClr val="dk1"/>
                </a:solidFill>
              </a:rPr>
              <a:t>Clientes objetivo</a:t>
            </a:r>
            <a:endParaRPr b="1" sz="1500">
              <a:solidFill>
                <a:schemeClr val="dk1"/>
              </a:solidFill>
            </a:endParaRPr>
          </a:p>
          <a:p>
            <a:pPr indent="-311150" lvl="0" marL="457200" rtl="0" algn="l">
              <a:lnSpc>
                <a:spcPct val="115000"/>
              </a:lnSpc>
              <a:spcBef>
                <a:spcPts val="1200"/>
              </a:spcBef>
              <a:spcAft>
                <a:spcPts val="0"/>
              </a:spcAft>
              <a:buClr>
                <a:schemeClr val="dk1"/>
              </a:buClr>
              <a:buSzPts val="1300"/>
              <a:buChar char="●"/>
            </a:pPr>
            <a:r>
              <a:rPr lang="es-CL" sz="1300">
                <a:solidFill>
                  <a:schemeClr val="dk1"/>
                </a:solidFill>
              </a:rPr>
              <a:t>Instituciones educacionales.</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Edificios corporativos.</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Centros comerciales.</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Empresas de Facility Management.</a:t>
            </a:r>
            <a:endParaRPr sz="1300">
              <a:solidFill>
                <a:schemeClr val="dk1"/>
              </a:solidFill>
            </a:endParaRPr>
          </a:p>
          <a:p>
            <a:pPr indent="0" lvl="0" marL="0" rtl="0" algn="l">
              <a:lnSpc>
                <a:spcPct val="115000"/>
              </a:lnSpc>
              <a:spcBef>
                <a:spcPts val="1400"/>
              </a:spcBef>
              <a:spcAft>
                <a:spcPts val="0"/>
              </a:spcAft>
              <a:buNone/>
            </a:pPr>
            <a:r>
              <a:rPr b="1" lang="es-CL" sz="1500">
                <a:solidFill>
                  <a:schemeClr val="dk1"/>
                </a:solidFill>
              </a:rPr>
              <a:t>Modelo de ingresos</a:t>
            </a:r>
            <a:endParaRPr b="1" sz="1500">
              <a:solidFill>
                <a:schemeClr val="dk1"/>
              </a:solidFill>
            </a:endParaRPr>
          </a:p>
          <a:p>
            <a:pPr indent="0" lvl="0" marL="0" rtl="0" algn="l">
              <a:lnSpc>
                <a:spcPct val="115000"/>
              </a:lnSpc>
              <a:spcBef>
                <a:spcPts val="1200"/>
              </a:spcBef>
              <a:spcAft>
                <a:spcPts val="0"/>
              </a:spcAft>
              <a:buNone/>
            </a:pPr>
            <a:r>
              <a:rPr b="1" lang="es-CL" sz="1300">
                <a:solidFill>
                  <a:schemeClr val="dk1"/>
                </a:solidFill>
              </a:rPr>
              <a:t>Implementación inicial</a:t>
            </a:r>
            <a:endParaRPr b="1" sz="1300">
              <a:solidFill>
                <a:schemeClr val="dk1"/>
              </a:solidFill>
            </a:endParaRPr>
          </a:p>
          <a:p>
            <a:pPr indent="-311150" lvl="0" marL="457200" rtl="0" algn="l">
              <a:lnSpc>
                <a:spcPct val="115000"/>
              </a:lnSpc>
              <a:spcBef>
                <a:spcPts val="1200"/>
              </a:spcBef>
              <a:spcAft>
                <a:spcPts val="0"/>
              </a:spcAft>
              <a:buClr>
                <a:schemeClr val="dk1"/>
              </a:buClr>
              <a:buSzPts val="1300"/>
              <a:buChar char="●"/>
            </a:pPr>
            <a:r>
              <a:rPr lang="es-CL" sz="1300">
                <a:solidFill>
                  <a:schemeClr val="dk1"/>
                </a:solidFill>
              </a:rPr>
              <a:t>Configuración.</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Instalación.</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Puesta en marcha.</a:t>
            </a:r>
            <a:endParaRPr sz="1300">
              <a:solidFill>
                <a:schemeClr val="dk1"/>
              </a:solidFill>
            </a:endParaRPr>
          </a:p>
          <a:p>
            <a:pPr indent="0" lvl="0" marL="0" rtl="0" algn="l">
              <a:lnSpc>
                <a:spcPct val="115000"/>
              </a:lnSpc>
              <a:spcBef>
                <a:spcPts val="1200"/>
              </a:spcBef>
              <a:spcAft>
                <a:spcPts val="0"/>
              </a:spcAft>
              <a:buNone/>
            </a:pPr>
            <a:r>
              <a:rPr b="1" lang="es-CL" sz="1300">
                <a:solidFill>
                  <a:schemeClr val="dk1"/>
                </a:solidFill>
              </a:rPr>
              <a:t>Servicio recurrente</a:t>
            </a:r>
            <a:endParaRPr b="1" sz="1300">
              <a:solidFill>
                <a:schemeClr val="dk1"/>
              </a:solidFill>
            </a:endParaRPr>
          </a:p>
          <a:p>
            <a:pPr indent="-311150" lvl="0" marL="457200" rtl="0" algn="l">
              <a:lnSpc>
                <a:spcPct val="115000"/>
              </a:lnSpc>
              <a:spcBef>
                <a:spcPts val="1200"/>
              </a:spcBef>
              <a:spcAft>
                <a:spcPts val="0"/>
              </a:spcAft>
              <a:buClr>
                <a:schemeClr val="dk1"/>
              </a:buClr>
              <a:buSzPts val="1300"/>
              <a:buChar char="●"/>
            </a:pPr>
            <a:r>
              <a:rPr lang="es-CL" sz="1300">
                <a:solidFill>
                  <a:schemeClr val="dk1"/>
                </a:solidFill>
              </a:rPr>
              <a:t>Suscripción mensual/anual.</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Soporte y mantenimiento.</a:t>
            </a:r>
            <a:endParaRPr sz="13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6"/>
          <p:cNvSpPr txBox="1"/>
          <p:nvPr>
            <p:ph type="title"/>
          </p:nvPr>
        </p:nvSpPr>
        <p:spPr>
          <a:xfrm>
            <a:off x="3545550" y="609600"/>
            <a:ext cx="2052900" cy="443700"/>
          </a:xfrm>
          <a:prstGeom prst="rect">
            <a:avLst/>
          </a:prstGeom>
          <a:noFill/>
          <a:ln>
            <a:noFill/>
          </a:ln>
        </p:spPr>
        <p:txBody>
          <a:bodyPr anchorCtr="0" anchor="t" bIns="0" lIns="0" spcFirstLastPara="1" rIns="0" wrap="square" tIns="12700">
            <a:spAutoFit/>
          </a:bodyPr>
          <a:lstStyle/>
          <a:p>
            <a:pPr indent="0" lvl="0" marL="0" rtl="0" algn="l">
              <a:lnSpc>
                <a:spcPct val="100000"/>
              </a:lnSpc>
              <a:spcBef>
                <a:spcPts val="0"/>
              </a:spcBef>
              <a:spcAft>
                <a:spcPts val="0"/>
              </a:spcAft>
              <a:buSzPts val="1400"/>
              <a:buNone/>
            </a:pPr>
            <a:r>
              <a:rPr lang="es-CL" sz="2800"/>
              <a:t>Modelo </a:t>
            </a:r>
            <a:r>
              <a:rPr lang="es-CL" sz="2800"/>
              <a:t>AS-IS</a:t>
            </a:r>
            <a:endParaRPr/>
          </a:p>
        </p:txBody>
      </p:sp>
      <p:grpSp>
        <p:nvGrpSpPr>
          <p:cNvPr id="94" name="Google Shape;94;p6"/>
          <p:cNvGrpSpPr/>
          <p:nvPr/>
        </p:nvGrpSpPr>
        <p:grpSpPr>
          <a:xfrm>
            <a:off x="77533" y="60960"/>
            <a:ext cx="2437066" cy="548640"/>
            <a:chOff x="77533" y="60960"/>
            <a:chExt cx="2437066" cy="548640"/>
          </a:xfrm>
        </p:grpSpPr>
        <p:pic>
          <p:nvPicPr>
            <p:cNvPr id="95" name="Google Shape;95;p6"/>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96" name="Google Shape;96;p6"/>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97" name="Google Shape;97;p6"/>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pic>
        <p:nvPicPr>
          <p:cNvPr id="98" name="Google Shape;98;p6"/>
          <p:cNvPicPr preferRelativeResize="0"/>
          <p:nvPr/>
        </p:nvPicPr>
        <p:blipFill rotWithShape="1">
          <a:blip r:embed="rId4">
            <a:alphaModFix/>
          </a:blip>
          <a:srcRect b="0" l="0" r="0" t="0"/>
          <a:stretch/>
        </p:blipFill>
        <p:spPr>
          <a:xfrm>
            <a:off x="38750" y="1236795"/>
            <a:ext cx="9066477" cy="531595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102" name="Shape 102"/>
        <p:cNvGrpSpPr/>
        <p:nvPr/>
      </p:nvGrpSpPr>
      <p:grpSpPr>
        <a:xfrm>
          <a:off x="0" y="0"/>
          <a:ext cx="0" cy="0"/>
          <a:chOff x="0" y="0"/>
          <a:chExt cx="0" cy="0"/>
        </a:xfrm>
      </p:grpSpPr>
      <p:sp>
        <p:nvSpPr>
          <p:cNvPr id="103" name="Google Shape;103;p10"/>
          <p:cNvSpPr txBox="1"/>
          <p:nvPr>
            <p:ph type="title"/>
          </p:nvPr>
        </p:nvSpPr>
        <p:spPr>
          <a:xfrm>
            <a:off x="2612155" y="658051"/>
            <a:ext cx="3919800" cy="443700"/>
          </a:xfrm>
          <a:prstGeom prst="rect">
            <a:avLst/>
          </a:prstGeom>
          <a:noFill/>
          <a:ln>
            <a:noFill/>
          </a:ln>
        </p:spPr>
        <p:txBody>
          <a:bodyPr anchorCtr="0" anchor="t" bIns="0" lIns="0" spcFirstLastPara="1" rIns="0" wrap="square" tIns="12700">
            <a:spAutoFit/>
          </a:bodyPr>
          <a:lstStyle/>
          <a:p>
            <a:pPr indent="0" lvl="0" marL="0" rtl="0" algn="l">
              <a:lnSpc>
                <a:spcPct val="100000"/>
              </a:lnSpc>
              <a:spcBef>
                <a:spcPts val="0"/>
              </a:spcBef>
              <a:spcAft>
                <a:spcPts val="0"/>
              </a:spcAft>
              <a:buSzPts val="2400"/>
              <a:buNone/>
            </a:pPr>
            <a:r>
              <a:rPr lang="es-CL" sz="2800"/>
              <a:t>Solución propuesta TO-BE</a:t>
            </a:r>
            <a:endParaRPr/>
          </a:p>
        </p:txBody>
      </p:sp>
      <p:grpSp>
        <p:nvGrpSpPr>
          <p:cNvPr id="104" name="Google Shape;104;p10"/>
          <p:cNvGrpSpPr/>
          <p:nvPr/>
        </p:nvGrpSpPr>
        <p:grpSpPr>
          <a:xfrm>
            <a:off x="77533" y="60960"/>
            <a:ext cx="2437066" cy="548640"/>
            <a:chOff x="77533" y="60960"/>
            <a:chExt cx="2437066" cy="548640"/>
          </a:xfrm>
        </p:grpSpPr>
        <p:pic>
          <p:nvPicPr>
            <p:cNvPr id="105" name="Google Shape;105;p10"/>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106" name="Google Shape;106;p10"/>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07" name="Google Shape;107;p10"/>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pic>
        <p:nvPicPr>
          <p:cNvPr id="108" name="Google Shape;108;p10"/>
          <p:cNvPicPr preferRelativeResize="0"/>
          <p:nvPr/>
        </p:nvPicPr>
        <p:blipFill rotWithShape="1">
          <a:blip r:embed="rId4">
            <a:alphaModFix/>
          </a:blip>
          <a:srcRect b="0" l="0" r="0" t="0"/>
          <a:stretch/>
        </p:blipFill>
        <p:spPr>
          <a:xfrm>
            <a:off x="0" y="1271713"/>
            <a:ext cx="9143998" cy="4528175"/>
          </a:xfrm>
          <a:prstGeom prst="rect">
            <a:avLst/>
          </a:prstGeom>
          <a:noFill/>
          <a:ln>
            <a:noFill/>
          </a:ln>
        </p:spPr>
      </p:pic>
      <p:sp>
        <p:nvSpPr>
          <p:cNvPr id="109" name="Google Shape;109;p10"/>
          <p:cNvSpPr txBox="1"/>
          <p:nvPr/>
        </p:nvSpPr>
        <p:spPr>
          <a:xfrm>
            <a:off x="246900" y="5969850"/>
            <a:ext cx="8650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CL" sz="1300"/>
              <a:t>La solución no reemplaza la decisión operacional; entrega información objetiva para apoyar la gestión de limpieza.</a:t>
            </a:r>
            <a:endParaRPr sz="13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113" name="Shape 113"/>
        <p:cNvGrpSpPr/>
        <p:nvPr/>
      </p:nvGrpSpPr>
      <p:grpSpPr>
        <a:xfrm>
          <a:off x="0" y="0"/>
          <a:ext cx="0" cy="0"/>
          <a:chOff x="0" y="0"/>
          <a:chExt cx="0" cy="0"/>
        </a:xfrm>
      </p:grpSpPr>
      <p:sp>
        <p:nvSpPr>
          <p:cNvPr id="114" name="Google Shape;114;g3fa15809516_0_22"/>
          <p:cNvSpPr txBox="1"/>
          <p:nvPr>
            <p:ph type="title"/>
          </p:nvPr>
        </p:nvSpPr>
        <p:spPr>
          <a:xfrm>
            <a:off x="2486099" y="839325"/>
            <a:ext cx="4171800" cy="443700"/>
          </a:xfrm>
          <a:prstGeom prst="rect">
            <a:avLst/>
          </a:prstGeom>
          <a:noFill/>
          <a:ln>
            <a:noFill/>
          </a:ln>
        </p:spPr>
        <p:txBody>
          <a:bodyPr anchorCtr="0" anchor="t" bIns="0" lIns="0" spcFirstLastPara="1" rIns="0" wrap="square" tIns="12700">
            <a:spAutoFit/>
          </a:bodyPr>
          <a:lstStyle/>
          <a:p>
            <a:pPr indent="0" lvl="0" marL="0" rtl="0" algn="l">
              <a:lnSpc>
                <a:spcPct val="100000"/>
              </a:lnSpc>
              <a:spcBef>
                <a:spcPts val="0"/>
              </a:spcBef>
              <a:spcAft>
                <a:spcPts val="0"/>
              </a:spcAft>
              <a:buSzPts val="2400"/>
              <a:buNone/>
            </a:pPr>
            <a:r>
              <a:rPr lang="es-CL" sz="2800"/>
              <a:t>Metodología y planificación</a:t>
            </a:r>
            <a:endParaRPr/>
          </a:p>
        </p:txBody>
      </p:sp>
      <p:grpSp>
        <p:nvGrpSpPr>
          <p:cNvPr id="115" name="Google Shape;115;g3fa15809516_0_22"/>
          <p:cNvGrpSpPr/>
          <p:nvPr/>
        </p:nvGrpSpPr>
        <p:grpSpPr>
          <a:xfrm>
            <a:off x="77533" y="60960"/>
            <a:ext cx="2437066" cy="548640"/>
            <a:chOff x="77533" y="60960"/>
            <a:chExt cx="2437066" cy="548640"/>
          </a:xfrm>
        </p:grpSpPr>
        <p:pic>
          <p:nvPicPr>
            <p:cNvPr id="116" name="Google Shape;116;g3fa15809516_0_22"/>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117" name="Google Shape;117;g3fa15809516_0_22"/>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18" name="Google Shape;118;g3fa15809516_0_22"/>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sp>
        <p:nvSpPr>
          <p:cNvPr id="119" name="Google Shape;119;g3fa15809516_0_22"/>
          <p:cNvSpPr txBox="1"/>
          <p:nvPr/>
        </p:nvSpPr>
        <p:spPr>
          <a:xfrm>
            <a:off x="284900" y="1654500"/>
            <a:ext cx="4171800" cy="3532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CL" sz="1500">
                <a:solidFill>
                  <a:schemeClr val="dk1"/>
                </a:solidFill>
              </a:rPr>
              <a:t>Metodología híbrida </a:t>
            </a:r>
            <a:endParaRPr b="1" sz="1500">
              <a:solidFill>
                <a:schemeClr val="dk1"/>
              </a:solidFill>
            </a:endParaRPr>
          </a:p>
          <a:p>
            <a:pPr indent="-323850" lvl="0" marL="457200" rtl="0" algn="l">
              <a:lnSpc>
                <a:spcPct val="115000"/>
              </a:lnSpc>
              <a:spcBef>
                <a:spcPts val="1200"/>
              </a:spcBef>
              <a:spcAft>
                <a:spcPts val="0"/>
              </a:spcAft>
              <a:buClr>
                <a:schemeClr val="dk1"/>
              </a:buClr>
              <a:buSzPts val="1500"/>
              <a:buChar char="●"/>
            </a:pPr>
            <a:r>
              <a:rPr b="1" lang="es-CL" sz="1500">
                <a:solidFill>
                  <a:schemeClr val="dk1"/>
                </a:solidFill>
              </a:rPr>
              <a:t>EDT: Estructura de Desglose del Trabajo</a:t>
            </a:r>
            <a:endParaRPr b="1" sz="1500">
              <a:solidFill>
                <a:schemeClr val="dk1"/>
              </a:solidFill>
            </a:endParaRPr>
          </a:p>
          <a:p>
            <a:pPr indent="-323850" lvl="0" marL="457200" rtl="0" algn="l">
              <a:lnSpc>
                <a:spcPct val="115000"/>
              </a:lnSpc>
              <a:spcBef>
                <a:spcPts val="0"/>
              </a:spcBef>
              <a:spcAft>
                <a:spcPts val="0"/>
              </a:spcAft>
              <a:buClr>
                <a:schemeClr val="dk1"/>
              </a:buClr>
              <a:buSzPts val="1500"/>
              <a:buChar char="●"/>
            </a:pPr>
            <a:r>
              <a:rPr b="1" lang="es-CL" sz="1500">
                <a:solidFill>
                  <a:schemeClr val="dk1"/>
                </a:solidFill>
              </a:rPr>
              <a:t>CPM: Método de la Ruta Crítica</a:t>
            </a:r>
            <a:endParaRPr b="1"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s-CL" sz="1500">
                <a:solidFill>
                  <a:schemeClr val="dk1"/>
                </a:solidFill>
              </a:rPr>
              <a:t>Carta Gantt</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s-CL" sz="1500">
                <a:solidFill>
                  <a:schemeClr val="dk1"/>
                </a:solidFill>
              </a:rPr>
              <a:t>Gestión de riesgos</a:t>
            </a:r>
            <a:endParaRPr sz="1500">
              <a:solidFill>
                <a:schemeClr val="dk1"/>
              </a:solidFill>
            </a:endParaRPr>
          </a:p>
          <a:p>
            <a:pPr indent="0" lvl="0" marL="0" rtl="0" algn="l">
              <a:lnSpc>
                <a:spcPct val="115000"/>
              </a:lnSpc>
              <a:spcBef>
                <a:spcPts val="1200"/>
              </a:spcBef>
              <a:spcAft>
                <a:spcPts val="0"/>
              </a:spcAft>
              <a:buNone/>
            </a:pPr>
            <a:r>
              <a:rPr b="1" lang="es-CL" sz="1500">
                <a:solidFill>
                  <a:schemeClr val="dk1"/>
                </a:solidFill>
              </a:rPr>
              <a:t>Ejecución iterativa</a:t>
            </a:r>
            <a:endParaRPr b="1" sz="1500">
              <a:solidFill>
                <a:schemeClr val="dk1"/>
              </a:solidFill>
            </a:endParaRPr>
          </a:p>
          <a:p>
            <a:pPr indent="-323850" lvl="0" marL="457200" rtl="0" algn="l">
              <a:lnSpc>
                <a:spcPct val="115000"/>
              </a:lnSpc>
              <a:spcBef>
                <a:spcPts val="1200"/>
              </a:spcBef>
              <a:spcAft>
                <a:spcPts val="0"/>
              </a:spcAft>
              <a:buClr>
                <a:schemeClr val="dk1"/>
              </a:buClr>
              <a:buSzPts val="1500"/>
              <a:buChar char="●"/>
            </a:pPr>
            <a:r>
              <a:rPr lang="es-CL" sz="1500">
                <a:solidFill>
                  <a:schemeClr val="dk1"/>
                </a:solidFill>
              </a:rPr>
              <a:t>Kanban</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s-CL" sz="1500">
                <a:solidFill>
                  <a:schemeClr val="dk1"/>
                </a:solidFill>
              </a:rPr>
              <a:t>Lista priorizada de trabajo</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s-CL" sz="1500">
                <a:solidFill>
                  <a:schemeClr val="dk1"/>
                </a:solidFill>
              </a:rPr>
              <a:t>Revisión y pruebas continuas</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s-CL" sz="1500">
                <a:solidFill>
                  <a:schemeClr val="dk1"/>
                </a:solidFill>
              </a:rPr>
              <a:t>Priorización del </a:t>
            </a:r>
            <a:r>
              <a:rPr b="1" lang="es-CL" sz="1500">
                <a:solidFill>
                  <a:schemeClr val="dk1"/>
                </a:solidFill>
              </a:rPr>
              <a:t>MVP</a:t>
            </a:r>
            <a:endParaRPr b="1" sz="1500">
              <a:solidFill>
                <a:schemeClr val="dk1"/>
              </a:solidFill>
            </a:endParaRPr>
          </a:p>
        </p:txBody>
      </p:sp>
      <p:sp>
        <p:nvSpPr>
          <p:cNvPr id="120" name="Google Shape;120;g3fa15809516_0_22"/>
          <p:cNvSpPr txBox="1"/>
          <p:nvPr/>
        </p:nvSpPr>
        <p:spPr>
          <a:xfrm>
            <a:off x="4772100" y="1654500"/>
            <a:ext cx="4253100" cy="2889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s-CL" sz="1500">
                <a:solidFill>
                  <a:schemeClr val="dk1"/>
                </a:solidFill>
              </a:rPr>
              <a:t>Planificación</a:t>
            </a:r>
            <a:endParaRPr b="1" sz="1500">
              <a:solidFill>
                <a:schemeClr val="dk1"/>
              </a:solidFill>
            </a:endParaRPr>
          </a:p>
          <a:p>
            <a:pPr indent="0" lvl="0" marL="0" rtl="0" algn="l">
              <a:lnSpc>
                <a:spcPct val="115000"/>
              </a:lnSpc>
              <a:spcBef>
                <a:spcPts val="1200"/>
              </a:spcBef>
              <a:spcAft>
                <a:spcPts val="0"/>
              </a:spcAft>
              <a:buNone/>
            </a:pPr>
            <a:r>
              <a:rPr b="1" lang="es-CL" sz="1500">
                <a:solidFill>
                  <a:schemeClr val="dk1"/>
                </a:solidFill>
              </a:rPr>
              <a:t>18 actividades principales</a:t>
            </a:r>
            <a:endParaRPr b="1" sz="1500">
              <a:solidFill>
                <a:schemeClr val="dk1"/>
              </a:solidFill>
            </a:endParaRPr>
          </a:p>
          <a:p>
            <a:pPr indent="0" lvl="0" marL="0" rtl="0" algn="l">
              <a:lnSpc>
                <a:spcPct val="115000"/>
              </a:lnSpc>
              <a:spcBef>
                <a:spcPts val="1200"/>
              </a:spcBef>
              <a:spcAft>
                <a:spcPts val="0"/>
              </a:spcAft>
              <a:buNone/>
            </a:pPr>
            <a:r>
              <a:rPr b="1" lang="es-CL" sz="1500">
                <a:solidFill>
                  <a:schemeClr val="dk1"/>
                </a:solidFill>
              </a:rPr>
              <a:t>71 días hábile</a:t>
            </a:r>
            <a:r>
              <a:rPr b="1" lang="es-CL" sz="1500">
                <a:solidFill>
                  <a:schemeClr val="dk1"/>
                </a:solidFill>
              </a:rPr>
              <a:t>s: </a:t>
            </a:r>
            <a:r>
              <a:rPr lang="es-CL" sz="1500">
                <a:solidFill>
                  <a:schemeClr val="dk1"/>
                </a:solidFill>
              </a:rPr>
              <a:t>Duración lógica obtenida mediante CPM.</a:t>
            </a:r>
            <a:endParaRPr sz="1500">
              <a:solidFill>
                <a:schemeClr val="dk1"/>
              </a:solidFill>
            </a:endParaRPr>
          </a:p>
          <a:p>
            <a:pPr indent="0" lvl="0" marL="0" rtl="0" algn="l">
              <a:lnSpc>
                <a:spcPct val="115000"/>
              </a:lnSpc>
              <a:spcBef>
                <a:spcPts val="1200"/>
              </a:spcBef>
              <a:spcAft>
                <a:spcPts val="0"/>
              </a:spcAft>
              <a:buNone/>
            </a:pPr>
            <a:r>
              <a:rPr b="1" lang="es-CL" sz="1500">
                <a:solidFill>
                  <a:schemeClr val="dk1"/>
                </a:solidFill>
              </a:rPr>
              <a:t>≈ 74 días hábiles: </a:t>
            </a:r>
            <a:r>
              <a:rPr lang="es-CL" sz="1500">
                <a:solidFill>
                  <a:schemeClr val="dk1"/>
                </a:solidFill>
              </a:rPr>
              <a:t>Cronograma ajustado considerando disponibilidad de recursos.</a:t>
            </a:r>
            <a:endParaRPr sz="1500">
              <a:solidFill>
                <a:schemeClr val="dk1"/>
              </a:solidFill>
            </a:endParaRPr>
          </a:p>
          <a:p>
            <a:pPr indent="0" lvl="0" marL="0" rtl="0" algn="l">
              <a:lnSpc>
                <a:spcPct val="115000"/>
              </a:lnSpc>
              <a:spcBef>
                <a:spcPts val="1200"/>
              </a:spcBef>
              <a:spcAft>
                <a:spcPts val="1200"/>
              </a:spcAft>
              <a:buNone/>
            </a:pPr>
            <a:r>
              <a:rPr b="1" lang="es-CL" sz="1500">
                <a:solidFill>
                  <a:schemeClr val="dk1"/>
                </a:solidFill>
              </a:rPr>
              <a:t>Semana final: </a:t>
            </a:r>
            <a:r>
              <a:rPr lang="es-CL" sz="1500">
                <a:solidFill>
                  <a:schemeClr val="dk1"/>
                </a:solidFill>
              </a:rPr>
              <a:t>Reservada para contingencias y ajustes.</a:t>
            </a:r>
            <a:endParaRPr b="1" sz="1500">
              <a:solidFill>
                <a:schemeClr val="dk1"/>
              </a:solidFill>
            </a:endParaRPr>
          </a:p>
        </p:txBody>
      </p:sp>
      <p:sp>
        <p:nvSpPr>
          <p:cNvPr id="121" name="Google Shape;121;g3fa15809516_0_22"/>
          <p:cNvSpPr txBox="1"/>
          <p:nvPr/>
        </p:nvSpPr>
        <p:spPr>
          <a:xfrm>
            <a:off x="461250" y="5423325"/>
            <a:ext cx="8221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CL" sz="1500"/>
              <a:t>La planificación busca proteger las actividades críticas y asegurar primero las funcionalidades esenciales del MVP. </a:t>
            </a:r>
            <a:endParaRPr sz="150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125" name="Shape 125"/>
        <p:cNvGrpSpPr/>
        <p:nvPr/>
      </p:nvGrpSpPr>
      <p:grpSpPr>
        <a:xfrm>
          <a:off x="0" y="0"/>
          <a:ext cx="0" cy="0"/>
          <a:chOff x="0" y="0"/>
          <a:chExt cx="0" cy="0"/>
        </a:xfrm>
      </p:grpSpPr>
      <p:sp>
        <p:nvSpPr>
          <p:cNvPr id="126" name="Google Shape;126;p12"/>
          <p:cNvSpPr txBox="1"/>
          <p:nvPr>
            <p:ph type="title"/>
          </p:nvPr>
        </p:nvSpPr>
        <p:spPr>
          <a:xfrm>
            <a:off x="1697550" y="782325"/>
            <a:ext cx="5748900" cy="443700"/>
          </a:xfrm>
          <a:prstGeom prst="rect">
            <a:avLst/>
          </a:prstGeom>
          <a:noFill/>
          <a:ln>
            <a:noFill/>
          </a:ln>
        </p:spPr>
        <p:txBody>
          <a:bodyPr anchorCtr="0" anchor="t" bIns="0" lIns="0" spcFirstLastPara="1" rIns="0" wrap="square" tIns="12700">
            <a:spAutoFit/>
          </a:bodyPr>
          <a:lstStyle/>
          <a:p>
            <a:pPr indent="0" lvl="0" marL="0" rtl="0" algn="l">
              <a:lnSpc>
                <a:spcPct val="100000"/>
              </a:lnSpc>
              <a:spcBef>
                <a:spcPts val="0"/>
              </a:spcBef>
              <a:spcAft>
                <a:spcPts val="0"/>
              </a:spcAft>
              <a:buSzPts val="2400"/>
              <a:buNone/>
            </a:pPr>
            <a:r>
              <a:rPr lang="es-CL" sz="2800"/>
              <a:t>Tecnologías y arquitectura de solución </a:t>
            </a:r>
            <a:endParaRPr/>
          </a:p>
        </p:txBody>
      </p:sp>
      <p:grpSp>
        <p:nvGrpSpPr>
          <p:cNvPr id="127" name="Google Shape;127;p12"/>
          <p:cNvGrpSpPr/>
          <p:nvPr/>
        </p:nvGrpSpPr>
        <p:grpSpPr>
          <a:xfrm>
            <a:off x="77533" y="60960"/>
            <a:ext cx="2437066" cy="548640"/>
            <a:chOff x="77533" y="60960"/>
            <a:chExt cx="2437066" cy="548640"/>
          </a:xfrm>
        </p:grpSpPr>
        <p:pic>
          <p:nvPicPr>
            <p:cNvPr id="128" name="Google Shape;128;p12"/>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129" name="Google Shape;129;p12"/>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30" name="Google Shape;130;p12"/>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sp>
        <p:nvSpPr>
          <p:cNvPr id="131" name="Google Shape;131;p12"/>
          <p:cNvSpPr txBox="1"/>
          <p:nvPr/>
        </p:nvSpPr>
        <p:spPr>
          <a:xfrm>
            <a:off x="654575" y="1398750"/>
            <a:ext cx="3878400" cy="4332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CL" sz="1300">
                <a:solidFill>
                  <a:schemeClr val="dk1"/>
                </a:solidFill>
              </a:rPr>
              <a:t>1. Captura</a:t>
            </a:r>
            <a:endParaRPr b="1" sz="1300">
              <a:solidFill>
                <a:schemeClr val="dk1"/>
              </a:solidFill>
            </a:endParaRPr>
          </a:p>
          <a:p>
            <a:pPr indent="0" lvl="0" marL="0" rtl="0" algn="l">
              <a:spcBef>
                <a:spcPts val="0"/>
              </a:spcBef>
              <a:spcAft>
                <a:spcPts val="0"/>
              </a:spcAft>
              <a:buNone/>
            </a:pPr>
            <a:r>
              <a:rPr b="1" lang="es-CL" sz="1300">
                <a:solidFill>
                  <a:schemeClr val="dk1"/>
                </a:solidFill>
              </a:rPr>
              <a:t>Cámara / Webcam</a:t>
            </a:r>
            <a:endParaRPr b="1" sz="1300">
              <a:solidFill>
                <a:schemeClr val="dk1"/>
              </a:solidFill>
            </a:endParaRPr>
          </a:p>
          <a:p>
            <a:pPr indent="0" lvl="0" marL="0" rtl="0" algn="l">
              <a:spcBef>
                <a:spcPts val="0"/>
              </a:spcBef>
              <a:spcAft>
                <a:spcPts val="0"/>
              </a:spcAft>
              <a:buNone/>
            </a:pPr>
            <a:r>
              <a:rPr lang="es-CL" sz="1300">
                <a:solidFill>
                  <a:schemeClr val="dk1"/>
                </a:solidFill>
              </a:rPr>
              <a:t>Obtiene video del acceso al baño. </a:t>
            </a:r>
            <a:endParaRPr sz="1300">
              <a:solidFill>
                <a:schemeClr val="dk1"/>
              </a:solidFill>
            </a:endParaRPr>
          </a:p>
          <a:p>
            <a:pPr indent="0" lvl="0" marL="0" rtl="0" algn="l">
              <a:spcBef>
                <a:spcPts val="0"/>
              </a:spcBef>
              <a:spcAft>
                <a:spcPts val="0"/>
              </a:spcAft>
              <a:buNone/>
            </a:pPr>
            <a:r>
              <a:t/>
            </a:r>
            <a:endParaRPr sz="13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s-CL" sz="1300">
                <a:solidFill>
                  <a:schemeClr val="dk1"/>
                </a:solidFill>
              </a:rPr>
              <a:t>2. Visión artificial</a:t>
            </a:r>
            <a:br>
              <a:rPr b="1" lang="es-CL" sz="1300">
                <a:solidFill>
                  <a:schemeClr val="dk1"/>
                </a:solidFill>
              </a:rPr>
            </a:br>
            <a:r>
              <a:rPr lang="es-CL" sz="1300">
                <a:solidFill>
                  <a:schemeClr val="dk1"/>
                </a:solidFill>
              </a:rPr>
              <a:t> </a:t>
            </a:r>
            <a:r>
              <a:rPr b="1" lang="es-CL" sz="1300">
                <a:solidFill>
                  <a:schemeClr val="dk1"/>
                </a:solidFill>
              </a:rPr>
              <a:t>Python + OpenCV + YOLO + ByteTrack</a:t>
            </a:r>
            <a:endParaRPr b="1" sz="1300">
              <a:solidFill>
                <a:schemeClr val="dk1"/>
              </a:solidFill>
            </a:endParaRPr>
          </a:p>
          <a:p>
            <a:pPr indent="-311150" lvl="0" marL="457200" rtl="0" algn="l">
              <a:lnSpc>
                <a:spcPct val="115000"/>
              </a:lnSpc>
              <a:spcBef>
                <a:spcPts val="1200"/>
              </a:spcBef>
              <a:spcAft>
                <a:spcPts val="0"/>
              </a:spcAft>
              <a:buClr>
                <a:schemeClr val="dk1"/>
              </a:buClr>
              <a:buSzPts val="1300"/>
              <a:buChar char="●"/>
            </a:pPr>
            <a:r>
              <a:rPr lang="es-CL" sz="1300">
                <a:solidFill>
                  <a:schemeClr val="dk1"/>
                </a:solidFill>
              </a:rPr>
              <a:t>OpenCV: procesamiento de video.</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YOLO: detección de personas.</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ByteTrack: seguimiento temporal.</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Generación de eventos </a:t>
            </a:r>
            <a:r>
              <a:rPr b="1" lang="es-CL" sz="1300">
                <a:solidFill>
                  <a:schemeClr val="dk1"/>
                </a:solidFill>
              </a:rPr>
              <a:t>IN/OUT</a:t>
            </a:r>
            <a:endParaRPr sz="1300">
              <a:solidFill>
                <a:schemeClr val="dk1"/>
              </a:solidFill>
            </a:endParaRPr>
          </a:p>
          <a:p>
            <a:pPr indent="0" lvl="0" marL="0" rtl="0" algn="l">
              <a:lnSpc>
                <a:spcPct val="115000"/>
              </a:lnSpc>
              <a:spcBef>
                <a:spcPts val="1200"/>
              </a:spcBef>
              <a:spcAft>
                <a:spcPts val="0"/>
              </a:spcAft>
              <a:buNone/>
            </a:pPr>
            <a:r>
              <a:rPr b="1" lang="es-CL" sz="1300">
                <a:solidFill>
                  <a:schemeClr val="dk1"/>
                </a:solidFill>
              </a:rPr>
              <a:t>3. Backend / API</a:t>
            </a:r>
            <a:br>
              <a:rPr b="1" lang="es-CL" sz="1300">
                <a:solidFill>
                  <a:schemeClr val="dk1"/>
                </a:solidFill>
              </a:rPr>
            </a:br>
            <a:r>
              <a:rPr lang="es-CL" sz="1300">
                <a:solidFill>
                  <a:schemeClr val="dk1"/>
                </a:solidFill>
              </a:rPr>
              <a:t> </a:t>
            </a:r>
            <a:r>
              <a:rPr b="1" lang="es-CL" sz="1300">
                <a:solidFill>
                  <a:schemeClr val="dk1"/>
                </a:solidFill>
              </a:rPr>
              <a:t>Python + FastAPI</a:t>
            </a:r>
            <a:endParaRPr b="1" sz="1300">
              <a:solidFill>
                <a:schemeClr val="dk1"/>
              </a:solidFill>
            </a:endParaRPr>
          </a:p>
          <a:p>
            <a:pPr indent="-311150" lvl="0" marL="457200" rtl="0" algn="l">
              <a:lnSpc>
                <a:spcPct val="115000"/>
              </a:lnSpc>
              <a:spcBef>
                <a:spcPts val="1200"/>
              </a:spcBef>
              <a:spcAft>
                <a:spcPts val="0"/>
              </a:spcAft>
              <a:buClr>
                <a:schemeClr val="dk1"/>
              </a:buClr>
              <a:buSzPts val="1300"/>
              <a:buChar char="●"/>
            </a:pPr>
            <a:r>
              <a:rPr lang="es-CL" sz="1300">
                <a:solidFill>
                  <a:schemeClr val="dk1"/>
                </a:solidFill>
              </a:rPr>
              <a:t>Recibe eventos de utilización.</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Gestiona usuarios, baños y asignaciones.</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Evalúa alertas.</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Registra intervenciones.</a:t>
            </a:r>
            <a:endParaRPr sz="1300">
              <a:solidFill>
                <a:schemeClr val="dk1"/>
              </a:solidFill>
            </a:endParaRPr>
          </a:p>
        </p:txBody>
      </p:sp>
      <p:sp>
        <p:nvSpPr>
          <p:cNvPr id="132" name="Google Shape;132;p12"/>
          <p:cNvSpPr txBox="1"/>
          <p:nvPr/>
        </p:nvSpPr>
        <p:spPr>
          <a:xfrm>
            <a:off x="578250" y="6004800"/>
            <a:ext cx="79875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CL"/>
              <a:t>El video se procesa localmente y el sistema central recibe principalmente información operacional, no grabaciones permanentes. </a:t>
            </a:r>
            <a:endParaRPr/>
          </a:p>
        </p:txBody>
      </p:sp>
      <p:sp>
        <p:nvSpPr>
          <p:cNvPr id="133" name="Google Shape;133;p12"/>
          <p:cNvSpPr txBox="1"/>
          <p:nvPr/>
        </p:nvSpPr>
        <p:spPr>
          <a:xfrm>
            <a:off x="5518750" y="1398738"/>
            <a:ext cx="2686200" cy="4069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CL" sz="1300">
                <a:solidFill>
                  <a:schemeClr val="dk1"/>
                </a:solidFill>
              </a:rPr>
              <a:t>4. Base de datos PostgreSQL</a:t>
            </a:r>
            <a:endParaRPr b="1" sz="1300">
              <a:solidFill>
                <a:schemeClr val="dk1"/>
              </a:solidFill>
            </a:endParaRPr>
          </a:p>
          <a:p>
            <a:pPr indent="0" lvl="0" marL="0" rtl="0" algn="l">
              <a:lnSpc>
                <a:spcPct val="115000"/>
              </a:lnSpc>
              <a:spcBef>
                <a:spcPts val="1200"/>
              </a:spcBef>
              <a:spcAft>
                <a:spcPts val="0"/>
              </a:spcAft>
              <a:buNone/>
            </a:pPr>
            <a:r>
              <a:rPr lang="es-CL" sz="1300">
                <a:solidFill>
                  <a:schemeClr val="dk1"/>
                </a:solidFill>
              </a:rPr>
              <a:t>Almacena:</a:t>
            </a:r>
            <a:endParaRPr sz="1300">
              <a:solidFill>
                <a:schemeClr val="dk1"/>
              </a:solidFill>
            </a:endParaRPr>
          </a:p>
          <a:p>
            <a:pPr indent="-311150" lvl="0" marL="457200" rtl="0" algn="l">
              <a:lnSpc>
                <a:spcPct val="115000"/>
              </a:lnSpc>
              <a:spcBef>
                <a:spcPts val="1200"/>
              </a:spcBef>
              <a:spcAft>
                <a:spcPts val="0"/>
              </a:spcAft>
              <a:buClr>
                <a:schemeClr val="dk1"/>
              </a:buClr>
              <a:buSzPts val="1300"/>
              <a:buChar char="●"/>
            </a:pPr>
            <a:r>
              <a:rPr lang="es-CL" sz="1300">
                <a:solidFill>
                  <a:schemeClr val="dk1"/>
                </a:solidFill>
              </a:rPr>
              <a:t>usuarios y roles;</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baños y asignaciones;</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eventos de utilización;</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alertas;</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historial de limpieza.</a:t>
            </a:r>
            <a:endParaRPr sz="1300">
              <a:solidFill>
                <a:schemeClr val="dk1"/>
              </a:solidFill>
            </a:endParaRPr>
          </a:p>
          <a:p>
            <a:pPr indent="0" lvl="0" marL="0" rtl="0" algn="l">
              <a:lnSpc>
                <a:spcPct val="115000"/>
              </a:lnSpc>
              <a:spcBef>
                <a:spcPts val="1200"/>
              </a:spcBef>
              <a:spcAft>
                <a:spcPts val="0"/>
              </a:spcAft>
              <a:buNone/>
            </a:pPr>
            <a:r>
              <a:rPr b="1" lang="es-CL" sz="1300">
                <a:solidFill>
                  <a:schemeClr val="dk1"/>
                </a:solidFill>
              </a:rPr>
              <a:t>5. Aplicación web</a:t>
            </a:r>
            <a:endParaRPr b="1" sz="1300">
              <a:solidFill>
                <a:schemeClr val="dk1"/>
              </a:solidFill>
            </a:endParaRPr>
          </a:p>
          <a:p>
            <a:pPr indent="0" lvl="0" marL="0" rtl="0" algn="l">
              <a:lnSpc>
                <a:spcPct val="115000"/>
              </a:lnSpc>
              <a:spcBef>
                <a:spcPts val="1200"/>
              </a:spcBef>
              <a:spcAft>
                <a:spcPts val="0"/>
              </a:spcAft>
              <a:buNone/>
            </a:pPr>
            <a:r>
              <a:rPr b="1" lang="es-CL" sz="1300">
                <a:solidFill>
                  <a:schemeClr val="dk1"/>
                </a:solidFill>
              </a:rPr>
              <a:t>Supervisor: </a:t>
            </a:r>
            <a:r>
              <a:rPr lang="es-CL" sz="1300">
                <a:solidFill>
                  <a:schemeClr val="dk1"/>
                </a:solidFill>
              </a:rPr>
              <a:t>Estado de baños, Alertas, Asignaciones, Historial.</a:t>
            </a:r>
            <a:endParaRPr sz="1300">
              <a:solidFill>
                <a:schemeClr val="dk1"/>
              </a:solidFill>
            </a:endParaRPr>
          </a:p>
          <a:p>
            <a:pPr indent="0" lvl="0" marL="0" rtl="0" algn="l">
              <a:lnSpc>
                <a:spcPct val="115000"/>
              </a:lnSpc>
              <a:spcBef>
                <a:spcPts val="1200"/>
              </a:spcBef>
              <a:spcAft>
                <a:spcPts val="0"/>
              </a:spcAft>
              <a:buNone/>
            </a:pPr>
            <a:r>
              <a:rPr b="1" lang="es-CL" sz="1300">
                <a:solidFill>
                  <a:schemeClr val="dk1"/>
                </a:solidFill>
              </a:rPr>
              <a:t>Trabajador</a:t>
            </a:r>
            <a:endParaRPr b="1" sz="1300">
              <a:solidFill>
                <a:schemeClr val="dk1"/>
              </a:solidFill>
            </a:endParaRPr>
          </a:p>
          <a:p>
            <a:pPr indent="-311150" lvl="0" marL="457200" rtl="0" algn="l">
              <a:lnSpc>
                <a:spcPct val="115000"/>
              </a:lnSpc>
              <a:spcBef>
                <a:spcPts val="1200"/>
              </a:spcBef>
              <a:spcAft>
                <a:spcPts val="0"/>
              </a:spcAft>
              <a:buClr>
                <a:schemeClr val="dk1"/>
              </a:buClr>
              <a:buSzPts val="1300"/>
              <a:buChar char="●"/>
            </a:pPr>
            <a:r>
              <a:rPr lang="es-CL" sz="1300">
                <a:solidFill>
                  <a:schemeClr val="dk1"/>
                </a:solidFill>
              </a:rPr>
              <a:t>Baños asignados.</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s-CL" sz="1300">
                <a:solidFill>
                  <a:schemeClr val="dk1"/>
                </a:solidFill>
              </a:rPr>
              <a:t>Inicio y término de limpieza.</a:t>
            </a:r>
            <a:endParaRPr sz="13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137" name="Shape 137"/>
        <p:cNvGrpSpPr/>
        <p:nvPr/>
      </p:nvGrpSpPr>
      <p:grpSpPr>
        <a:xfrm>
          <a:off x="0" y="0"/>
          <a:ext cx="0" cy="0"/>
          <a:chOff x="0" y="0"/>
          <a:chExt cx="0" cy="0"/>
        </a:xfrm>
      </p:grpSpPr>
      <p:sp>
        <p:nvSpPr>
          <p:cNvPr id="138" name="Google Shape;138;p13"/>
          <p:cNvSpPr txBox="1"/>
          <p:nvPr>
            <p:ph type="title"/>
          </p:nvPr>
        </p:nvSpPr>
        <p:spPr>
          <a:xfrm>
            <a:off x="2150400" y="720950"/>
            <a:ext cx="4843200" cy="4437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SzPts val="1400"/>
              <a:buNone/>
            </a:pPr>
            <a:r>
              <a:rPr lang="es-CL" sz="2800"/>
              <a:t>Riesgos principales del proyecto </a:t>
            </a:r>
            <a:endParaRPr sz="2800"/>
          </a:p>
        </p:txBody>
      </p:sp>
      <p:grpSp>
        <p:nvGrpSpPr>
          <p:cNvPr id="139" name="Google Shape;139;p13"/>
          <p:cNvGrpSpPr/>
          <p:nvPr/>
        </p:nvGrpSpPr>
        <p:grpSpPr>
          <a:xfrm>
            <a:off x="77533" y="60960"/>
            <a:ext cx="2437066" cy="548640"/>
            <a:chOff x="77533" y="60960"/>
            <a:chExt cx="2437066" cy="548640"/>
          </a:xfrm>
        </p:grpSpPr>
        <p:pic>
          <p:nvPicPr>
            <p:cNvPr id="140" name="Google Shape;140;p13"/>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141" name="Google Shape;141;p13"/>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42" name="Google Shape;142;p13"/>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graphicFrame>
        <p:nvGraphicFramePr>
          <p:cNvPr id="143" name="Google Shape;143;p13"/>
          <p:cNvGraphicFramePr/>
          <p:nvPr/>
        </p:nvGraphicFramePr>
        <p:xfrm>
          <a:off x="728625" y="1386575"/>
          <a:ext cx="3000000" cy="3000000"/>
        </p:xfrm>
        <a:graphic>
          <a:graphicData uri="http://schemas.openxmlformats.org/drawingml/2006/table">
            <a:tbl>
              <a:tblPr>
                <a:noFill/>
                <a:tableStyleId>{B1B650AB-F6C6-4F0C-AFE5-88CCE174B417}</a:tableStyleId>
              </a:tblPr>
              <a:tblGrid>
                <a:gridCol w="3843375"/>
                <a:gridCol w="3843375"/>
              </a:tblGrid>
              <a:tr h="386925">
                <a:tc>
                  <a:txBody>
                    <a:bodyPr/>
                    <a:lstStyle/>
                    <a:p>
                      <a:pPr indent="0" lvl="0" marL="0" rtl="0" algn="ctr">
                        <a:lnSpc>
                          <a:spcPct val="115000"/>
                        </a:lnSpc>
                        <a:spcBef>
                          <a:spcPts val="0"/>
                        </a:spcBef>
                        <a:spcAft>
                          <a:spcPts val="0"/>
                        </a:spcAft>
                        <a:buNone/>
                      </a:pPr>
                      <a:r>
                        <a:rPr b="1" lang="es-CL" sz="1300"/>
                        <a:t>Riesgo</a:t>
                      </a:r>
                      <a:endParaRPr b="1" sz="1300"/>
                    </a:p>
                  </a:txBody>
                  <a:tcPr marT="91425" marB="91425" marR="91425" marL="91425">
                    <a:solidFill>
                      <a:srgbClr val="C9DAF8"/>
                    </a:solidFill>
                  </a:tcPr>
                </a:tc>
                <a:tc>
                  <a:txBody>
                    <a:bodyPr/>
                    <a:lstStyle/>
                    <a:p>
                      <a:pPr indent="0" lvl="0" marL="0" rtl="0" algn="ctr">
                        <a:lnSpc>
                          <a:spcPct val="115000"/>
                        </a:lnSpc>
                        <a:spcBef>
                          <a:spcPts val="0"/>
                        </a:spcBef>
                        <a:spcAft>
                          <a:spcPts val="0"/>
                        </a:spcAft>
                        <a:buNone/>
                      </a:pPr>
                      <a:r>
                        <a:rPr b="1" lang="es-CL" sz="1300"/>
                        <a:t>Acción de mitigación</a:t>
                      </a:r>
                      <a:endParaRPr b="1" sz="1300"/>
                    </a:p>
                  </a:txBody>
                  <a:tcPr marT="91425" marB="91425" marR="91425" marL="91425">
                    <a:solidFill>
                      <a:srgbClr val="C9DAF8"/>
                    </a:solidFill>
                  </a:tcPr>
                </a:tc>
              </a:tr>
              <a:tr h="690625">
                <a:tc>
                  <a:txBody>
                    <a:bodyPr/>
                    <a:lstStyle/>
                    <a:p>
                      <a:pPr indent="0" lvl="0" marL="0" rtl="0" algn="l">
                        <a:spcBef>
                          <a:spcPts val="0"/>
                        </a:spcBef>
                        <a:spcAft>
                          <a:spcPts val="0"/>
                        </a:spcAft>
                        <a:buNone/>
                      </a:pPr>
                      <a:r>
                        <a:rPr b="1" lang="es-CL" sz="1100"/>
                        <a:t>Precisión del conteo</a:t>
                      </a:r>
                      <a:endParaRPr b="1" sz="1100"/>
                    </a:p>
                  </a:txBody>
                  <a:tcPr marT="91425" marB="91425" marR="91425" marL="91425"/>
                </a:tc>
                <a:tc>
                  <a:txBody>
                    <a:bodyPr/>
                    <a:lstStyle/>
                    <a:p>
                      <a:pPr indent="0" lvl="0" marL="0" rtl="0" algn="l">
                        <a:spcBef>
                          <a:spcPts val="0"/>
                        </a:spcBef>
                        <a:spcAft>
                          <a:spcPts val="0"/>
                        </a:spcAft>
                        <a:buNone/>
                      </a:pPr>
                      <a:r>
                        <a:rPr lang="es-CL"/>
                        <a:t>Realizar pruebas tempranas y ajustar detector, seguimiento y zonas de cruce.</a:t>
                      </a:r>
                      <a:endParaRPr/>
                    </a:p>
                  </a:txBody>
                  <a:tcPr marT="91425" marB="91425" marR="91425" marL="91425"/>
                </a:tc>
              </a:tr>
              <a:tr h="932375">
                <a:tc>
                  <a:txBody>
                    <a:bodyPr/>
                    <a:lstStyle/>
                    <a:p>
                      <a:pPr indent="0" lvl="0" marL="0" rtl="0" algn="l">
                        <a:spcBef>
                          <a:spcPts val="0"/>
                        </a:spcBef>
                        <a:spcAft>
                          <a:spcPts val="0"/>
                        </a:spcAft>
                        <a:buNone/>
                      </a:pPr>
                      <a:r>
                        <a:rPr b="1" lang="es-CL" sz="1100"/>
                        <a:t>Autorización o ubicación de la cámara</a:t>
                      </a:r>
                      <a:endParaRPr b="1" sz="1100"/>
                    </a:p>
                  </a:txBody>
                  <a:tcPr marT="91425" marB="91425" marR="91425" marL="91425"/>
                </a:tc>
                <a:tc>
                  <a:txBody>
                    <a:bodyPr/>
                    <a:lstStyle/>
                    <a:p>
                      <a:pPr indent="0" lvl="0" marL="0" rtl="0" algn="l">
                        <a:spcBef>
                          <a:spcPts val="0"/>
                        </a:spcBef>
                        <a:spcAft>
                          <a:spcPts val="0"/>
                        </a:spcAft>
                        <a:buNone/>
                      </a:pPr>
                      <a:r>
                        <a:rPr lang="es-CL"/>
                        <a:t>Validar anticipadamente el escenario real y mantener un entorno controlado como alternativa.</a:t>
                      </a:r>
                      <a:endParaRPr/>
                    </a:p>
                  </a:txBody>
                  <a:tcPr marT="91425" marB="91425" marR="91425" marL="91425"/>
                </a:tc>
              </a:tr>
              <a:tr h="932375">
                <a:tc>
                  <a:txBody>
                    <a:bodyPr/>
                    <a:lstStyle/>
                    <a:p>
                      <a:pPr indent="0" lvl="0" marL="0" rtl="0" algn="l">
                        <a:spcBef>
                          <a:spcPts val="0"/>
                        </a:spcBef>
                        <a:spcAft>
                          <a:spcPts val="0"/>
                        </a:spcAft>
                        <a:buNone/>
                      </a:pPr>
                      <a:r>
                        <a:rPr b="1" lang="es-CL" sz="1100"/>
                        <a:t>Rendimiento del hardware</a:t>
                      </a:r>
                      <a:endParaRPr b="1" sz="1100"/>
                    </a:p>
                  </a:txBody>
                  <a:tcPr marT="91425" marB="91425" marR="91425" marL="91425"/>
                </a:tc>
                <a:tc>
                  <a:txBody>
                    <a:bodyPr/>
                    <a:lstStyle/>
                    <a:p>
                      <a:pPr indent="0" lvl="0" marL="0" rtl="0" algn="l">
                        <a:spcBef>
                          <a:spcPts val="0"/>
                        </a:spcBef>
                        <a:spcAft>
                          <a:spcPts val="0"/>
                        </a:spcAft>
                        <a:buNone/>
                      </a:pPr>
                      <a:r>
                        <a:rPr lang="es-CL"/>
                        <a:t>Ajustar resolución, frecuencia de procesamiento o utilizar modelos más livianos.</a:t>
                      </a:r>
                      <a:endParaRPr/>
                    </a:p>
                  </a:txBody>
                  <a:tcPr marT="91425" marB="91425" marR="91425" marL="91425"/>
                </a:tc>
              </a:tr>
              <a:tr h="690625">
                <a:tc>
                  <a:txBody>
                    <a:bodyPr/>
                    <a:lstStyle/>
                    <a:p>
                      <a:pPr indent="0" lvl="0" marL="0" rtl="0" algn="l">
                        <a:spcBef>
                          <a:spcPts val="0"/>
                        </a:spcBef>
                        <a:spcAft>
                          <a:spcPts val="0"/>
                        </a:spcAft>
                        <a:buNone/>
                      </a:pPr>
                      <a:r>
                        <a:rPr b="1" lang="es-CL" sz="1100"/>
                        <a:t>Integración entre componentes</a:t>
                      </a:r>
                      <a:endParaRPr b="1" sz="1100"/>
                    </a:p>
                  </a:txBody>
                  <a:tcPr marT="91425" marB="91425" marR="91425" marL="91425"/>
                </a:tc>
                <a:tc>
                  <a:txBody>
                    <a:bodyPr/>
                    <a:lstStyle/>
                    <a:p>
                      <a:pPr indent="0" lvl="0" marL="0" rtl="0" algn="l">
                        <a:spcBef>
                          <a:spcPts val="0"/>
                        </a:spcBef>
                        <a:spcAft>
                          <a:spcPts val="0"/>
                        </a:spcAft>
                        <a:buNone/>
                      </a:pPr>
                      <a:r>
                        <a:rPr lang="es-CL"/>
                        <a:t>Integrar progresivamente visión artificial, backend, base de datos y aplicación web.</a:t>
                      </a:r>
                      <a:endParaRPr/>
                    </a:p>
                  </a:txBody>
                  <a:tcPr marT="91425" marB="91425" marR="91425" marL="91425"/>
                </a:tc>
              </a:tr>
              <a:tr h="690625">
                <a:tc>
                  <a:txBody>
                    <a:bodyPr/>
                    <a:lstStyle/>
                    <a:p>
                      <a:pPr indent="0" lvl="0" marL="0" rtl="0" algn="l">
                        <a:spcBef>
                          <a:spcPts val="0"/>
                        </a:spcBef>
                        <a:spcAft>
                          <a:spcPts val="0"/>
                        </a:spcAft>
                        <a:buNone/>
                      </a:pPr>
                      <a:r>
                        <a:rPr b="1" lang="es-CL" sz="1100"/>
                        <a:t>Retrasos en actividades críticas</a:t>
                      </a:r>
                      <a:endParaRPr b="1" sz="1100"/>
                    </a:p>
                  </a:txBody>
                  <a:tcPr marT="91425" marB="91425" marR="91425" marL="91425"/>
                </a:tc>
                <a:tc>
                  <a:txBody>
                    <a:bodyPr/>
                    <a:lstStyle/>
                    <a:p>
                      <a:pPr indent="0" lvl="0" marL="0" rtl="0" algn="l">
                        <a:spcBef>
                          <a:spcPts val="0"/>
                        </a:spcBef>
                        <a:spcAft>
                          <a:spcPts val="0"/>
                        </a:spcAft>
                        <a:buNone/>
                      </a:pPr>
                      <a:r>
                        <a:rPr lang="es-CL"/>
                        <a:t>Priorizar funcionalidades esenciales del MVP y utilizar el margen de contingencia.</a:t>
                      </a:r>
                      <a:endParaRPr/>
                    </a:p>
                  </a:txBody>
                  <a:tcPr marT="91425" marB="91425" marR="91425" marL="91425"/>
                </a:tc>
              </a:tr>
            </a:tbl>
          </a:graphicData>
        </a:graphic>
      </p:graphicFrame>
      <p:sp>
        <p:nvSpPr>
          <p:cNvPr id="144" name="Google Shape;144;p13"/>
          <p:cNvSpPr txBox="1"/>
          <p:nvPr/>
        </p:nvSpPr>
        <p:spPr>
          <a:xfrm>
            <a:off x="405300" y="5921875"/>
            <a:ext cx="83334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CL"/>
              <a:t>Los riesgos pueden generar ajustes en tecnologías, versiones, configuración técnica o funcionalidades no obligatorias.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148" name="Shape 148"/>
        <p:cNvGrpSpPr/>
        <p:nvPr/>
      </p:nvGrpSpPr>
      <p:grpSpPr>
        <a:xfrm>
          <a:off x="0" y="0"/>
          <a:ext cx="0" cy="0"/>
          <a:chOff x="0" y="0"/>
          <a:chExt cx="0" cy="0"/>
        </a:xfrm>
      </p:grpSpPr>
      <p:sp>
        <p:nvSpPr>
          <p:cNvPr id="149" name="Google Shape;149;g3fa15809516_0_60"/>
          <p:cNvSpPr txBox="1"/>
          <p:nvPr>
            <p:ph type="title"/>
          </p:nvPr>
        </p:nvSpPr>
        <p:spPr>
          <a:xfrm>
            <a:off x="2893200" y="860875"/>
            <a:ext cx="3357600" cy="4437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SzPts val="1400"/>
              <a:buNone/>
            </a:pPr>
            <a:r>
              <a:rPr lang="es-CL" sz="2800"/>
              <a:t>Seguridad y privacidad </a:t>
            </a:r>
            <a:endParaRPr sz="2800"/>
          </a:p>
        </p:txBody>
      </p:sp>
      <p:grpSp>
        <p:nvGrpSpPr>
          <p:cNvPr id="150" name="Google Shape;150;g3fa15809516_0_60"/>
          <p:cNvGrpSpPr/>
          <p:nvPr/>
        </p:nvGrpSpPr>
        <p:grpSpPr>
          <a:xfrm>
            <a:off x="77533" y="60960"/>
            <a:ext cx="2437066" cy="548640"/>
            <a:chOff x="77533" y="60960"/>
            <a:chExt cx="2437066" cy="548640"/>
          </a:xfrm>
        </p:grpSpPr>
        <p:pic>
          <p:nvPicPr>
            <p:cNvPr id="151" name="Google Shape;151;g3fa15809516_0_60"/>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152" name="Google Shape;152;g3fa15809516_0_60"/>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53" name="Google Shape;153;g3fa15809516_0_60"/>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sp>
        <p:nvSpPr>
          <p:cNvPr id="154" name="Google Shape;154;g3fa15809516_0_60"/>
          <p:cNvSpPr txBox="1"/>
          <p:nvPr/>
        </p:nvSpPr>
        <p:spPr>
          <a:xfrm>
            <a:off x="4840625" y="1775213"/>
            <a:ext cx="3814500" cy="2850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s-CL" sz="1600">
                <a:solidFill>
                  <a:schemeClr val="dk1"/>
                </a:solidFill>
              </a:rPr>
              <a:t>Privacidad</a:t>
            </a:r>
            <a:endParaRPr b="1" sz="1600">
              <a:solidFill>
                <a:schemeClr val="dk1"/>
              </a:solidFill>
            </a:endParaRPr>
          </a:p>
          <a:p>
            <a:pPr indent="-330200" lvl="0" marL="457200" rtl="0" algn="l">
              <a:lnSpc>
                <a:spcPct val="115000"/>
              </a:lnSpc>
              <a:spcBef>
                <a:spcPts val="1200"/>
              </a:spcBef>
              <a:spcAft>
                <a:spcPts val="0"/>
              </a:spcAft>
              <a:buClr>
                <a:schemeClr val="dk1"/>
              </a:buClr>
              <a:buSzPts val="1600"/>
              <a:buChar char="●"/>
            </a:pPr>
            <a:r>
              <a:rPr lang="es-CL" sz="1600">
                <a:solidFill>
                  <a:schemeClr val="dk1"/>
                </a:solidFill>
              </a:rPr>
              <a:t>Cámara orientada únicamente al acceso.</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s-CL" sz="1600">
                <a:solidFill>
                  <a:schemeClr val="dk1"/>
                </a:solidFill>
              </a:rPr>
              <a:t>Sin reconocimiento facial.</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s-CL" sz="1600">
                <a:solidFill>
                  <a:schemeClr val="dk1"/>
                </a:solidFill>
              </a:rPr>
              <a:t>IDs de tracking temporales.</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s-CL" sz="1600">
                <a:solidFill>
                  <a:schemeClr val="dk1"/>
                </a:solidFill>
              </a:rPr>
              <a:t>Procesamiento local del video.</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s-CL" sz="1600">
                <a:solidFill>
                  <a:schemeClr val="dk1"/>
                </a:solidFill>
              </a:rPr>
              <a:t>Sin almacenamiento habitual de imágenes.</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s-CL" sz="1600">
                <a:solidFill>
                  <a:schemeClr val="dk1"/>
                </a:solidFill>
              </a:rPr>
              <a:t>Minimización de datos.</a:t>
            </a:r>
            <a:endParaRPr sz="1600">
              <a:solidFill>
                <a:schemeClr val="dk1"/>
              </a:solidFill>
            </a:endParaRPr>
          </a:p>
        </p:txBody>
      </p:sp>
      <p:sp>
        <p:nvSpPr>
          <p:cNvPr id="155" name="Google Shape;155;g3fa15809516_0_60"/>
          <p:cNvSpPr txBox="1"/>
          <p:nvPr/>
        </p:nvSpPr>
        <p:spPr>
          <a:xfrm>
            <a:off x="454800" y="1775213"/>
            <a:ext cx="4002000" cy="341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s-CL" sz="1600">
                <a:solidFill>
                  <a:schemeClr val="dk1"/>
                </a:solidFill>
              </a:rPr>
              <a:t>Seguridad</a:t>
            </a:r>
            <a:endParaRPr b="1" sz="1600">
              <a:solidFill>
                <a:schemeClr val="dk1"/>
              </a:solidFill>
            </a:endParaRPr>
          </a:p>
          <a:p>
            <a:pPr indent="-330200" lvl="0" marL="457200" rtl="0" algn="l">
              <a:lnSpc>
                <a:spcPct val="115000"/>
              </a:lnSpc>
              <a:spcBef>
                <a:spcPts val="1200"/>
              </a:spcBef>
              <a:spcAft>
                <a:spcPts val="0"/>
              </a:spcAft>
              <a:buClr>
                <a:schemeClr val="dk1"/>
              </a:buClr>
              <a:buSzPts val="1600"/>
              <a:buChar char="●"/>
            </a:pPr>
            <a:r>
              <a:rPr lang="es-CL" sz="1600">
                <a:solidFill>
                  <a:schemeClr val="dk1"/>
                </a:solidFill>
              </a:rPr>
              <a:t>Autenticación y autorización por roles.</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s-CL" sz="1600">
                <a:solidFill>
                  <a:schemeClr val="dk1"/>
                </a:solidFill>
              </a:rPr>
              <a:t>Contraseñas almacenadas de forma segura.</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s-CL" sz="1600">
                <a:solidFill>
                  <a:schemeClr val="dk1"/>
                </a:solidFill>
              </a:rPr>
              <a:t>Frontend sin acceso directo a la base de datos.</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s-CL" sz="1600">
                <a:solidFill>
                  <a:schemeClr val="dk1"/>
                </a:solidFill>
              </a:rPr>
              <a:t>Credenciales técnicas fuera del código.</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s-CL" sz="1600">
                <a:solidFill>
                  <a:schemeClr val="dk1"/>
                </a:solidFill>
              </a:rPr>
              <a:t>HTTPS cuando corresponda al despliegue.</a:t>
            </a:r>
            <a:endParaRPr sz="1600">
              <a:solidFill>
                <a:schemeClr val="dk1"/>
              </a:solidFill>
            </a:endParaRPr>
          </a:p>
        </p:txBody>
      </p:sp>
      <p:sp>
        <p:nvSpPr>
          <p:cNvPr id="156" name="Google Shape;156;g3fa15809516_0_60"/>
          <p:cNvSpPr txBox="1"/>
          <p:nvPr/>
        </p:nvSpPr>
        <p:spPr>
          <a:xfrm>
            <a:off x="795250" y="5523900"/>
            <a:ext cx="76326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CL" sz="1600"/>
              <a:t>Necesitamos conocer el evento de utilización, no la identidad de quien lo genera. </a:t>
            </a:r>
            <a:endParaRPr sz="16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160" name="Shape 160"/>
        <p:cNvGrpSpPr/>
        <p:nvPr/>
      </p:nvGrpSpPr>
      <p:grpSpPr>
        <a:xfrm>
          <a:off x="0" y="0"/>
          <a:ext cx="0" cy="0"/>
          <a:chOff x="0" y="0"/>
          <a:chExt cx="0" cy="0"/>
        </a:xfrm>
      </p:grpSpPr>
      <p:sp>
        <p:nvSpPr>
          <p:cNvPr id="161" name="Google Shape;161;g3fa15809516_1_27"/>
          <p:cNvSpPr txBox="1"/>
          <p:nvPr>
            <p:ph type="title"/>
          </p:nvPr>
        </p:nvSpPr>
        <p:spPr>
          <a:xfrm>
            <a:off x="3854252" y="700599"/>
            <a:ext cx="1435500" cy="4437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SzPts val="1400"/>
              <a:buNone/>
            </a:pPr>
            <a:r>
              <a:rPr lang="es-CL" sz="2800"/>
              <a:t>Mockups </a:t>
            </a:r>
            <a:endParaRPr sz="2800"/>
          </a:p>
        </p:txBody>
      </p:sp>
      <p:grpSp>
        <p:nvGrpSpPr>
          <p:cNvPr id="162" name="Google Shape;162;g3fa15809516_1_27"/>
          <p:cNvGrpSpPr/>
          <p:nvPr/>
        </p:nvGrpSpPr>
        <p:grpSpPr>
          <a:xfrm>
            <a:off x="77533" y="60960"/>
            <a:ext cx="2437066" cy="548640"/>
            <a:chOff x="77533" y="60960"/>
            <a:chExt cx="2437066" cy="548640"/>
          </a:xfrm>
        </p:grpSpPr>
        <p:pic>
          <p:nvPicPr>
            <p:cNvPr id="163" name="Google Shape;163;g3fa15809516_1_27"/>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164" name="Google Shape;164;g3fa15809516_1_27"/>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65" name="Google Shape;165;g3fa15809516_1_27"/>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pic>
        <p:nvPicPr>
          <p:cNvPr id="166" name="Google Shape;166;g3fa15809516_1_27"/>
          <p:cNvPicPr preferRelativeResize="0"/>
          <p:nvPr/>
        </p:nvPicPr>
        <p:blipFill>
          <a:blip r:embed="rId4">
            <a:alphaModFix/>
          </a:blip>
          <a:stretch>
            <a:fillRect/>
          </a:stretch>
        </p:blipFill>
        <p:spPr>
          <a:xfrm>
            <a:off x="376263" y="1264250"/>
            <a:ext cx="8391476" cy="5257175"/>
          </a:xfrm>
          <a:prstGeom prst="rect">
            <a:avLst/>
          </a:prstGeom>
          <a:noFill/>
          <a:ln>
            <a:noFill/>
          </a:ln>
        </p:spPr>
      </p:pic>
      <p:pic>
        <p:nvPicPr>
          <p:cNvPr id="167" name="Google Shape;167;g3fa15809516_1_27"/>
          <p:cNvPicPr preferRelativeResize="0"/>
          <p:nvPr/>
        </p:nvPicPr>
        <p:blipFill>
          <a:blip r:embed="rId5">
            <a:alphaModFix/>
          </a:blip>
          <a:stretch>
            <a:fillRect/>
          </a:stretch>
        </p:blipFill>
        <p:spPr>
          <a:xfrm>
            <a:off x="482042" y="1429192"/>
            <a:ext cx="1264800" cy="355835"/>
          </a:xfrm>
          <a:prstGeom prst="rect">
            <a:avLst/>
          </a:prstGeom>
          <a:noFill/>
          <a:ln>
            <a:noFill/>
          </a:ln>
        </p:spPr>
      </p:pic>
      <p:pic>
        <p:nvPicPr>
          <p:cNvPr id="168" name="Google Shape;168;g3fa15809516_1_27"/>
          <p:cNvPicPr preferRelativeResize="0"/>
          <p:nvPr/>
        </p:nvPicPr>
        <p:blipFill>
          <a:blip r:embed="rId6">
            <a:alphaModFix/>
          </a:blip>
          <a:stretch>
            <a:fillRect/>
          </a:stretch>
        </p:blipFill>
        <p:spPr>
          <a:xfrm>
            <a:off x="5442152" y="152400"/>
            <a:ext cx="533400" cy="4667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172" name="Shape 172"/>
        <p:cNvGrpSpPr/>
        <p:nvPr/>
      </p:nvGrpSpPr>
      <p:grpSpPr>
        <a:xfrm>
          <a:off x="0" y="0"/>
          <a:ext cx="0" cy="0"/>
          <a:chOff x="0" y="0"/>
          <a:chExt cx="0" cy="0"/>
        </a:xfrm>
      </p:grpSpPr>
      <p:sp>
        <p:nvSpPr>
          <p:cNvPr id="173" name="Google Shape;173;g3fa15809516_1_13"/>
          <p:cNvSpPr txBox="1"/>
          <p:nvPr>
            <p:ph type="title"/>
          </p:nvPr>
        </p:nvSpPr>
        <p:spPr>
          <a:xfrm>
            <a:off x="3854252" y="904100"/>
            <a:ext cx="1435500" cy="4437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SzPts val="1400"/>
              <a:buNone/>
            </a:pPr>
            <a:r>
              <a:rPr lang="es-CL" sz="2800"/>
              <a:t>Mockups </a:t>
            </a:r>
            <a:endParaRPr sz="2800"/>
          </a:p>
        </p:txBody>
      </p:sp>
      <p:grpSp>
        <p:nvGrpSpPr>
          <p:cNvPr id="174" name="Google Shape;174;g3fa15809516_1_13"/>
          <p:cNvGrpSpPr/>
          <p:nvPr/>
        </p:nvGrpSpPr>
        <p:grpSpPr>
          <a:xfrm>
            <a:off x="77533" y="60960"/>
            <a:ext cx="2437066" cy="548640"/>
            <a:chOff x="77533" y="60960"/>
            <a:chExt cx="2437066" cy="548640"/>
          </a:xfrm>
        </p:grpSpPr>
        <p:pic>
          <p:nvPicPr>
            <p:cNvPr id="175" name="Google Shape;175;g3fa15809516_1_13"/>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176" name="Google Shape;176;g3fa15809516_1_13"/>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77" name="Google Shape;177;g3fa15809516_1_13"/>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pic>
        <p:nvPicPr>
          <p:cNvPr id="178" name="Google Shape;178;g3fa15809516_1_13"/>
          <p:cNvPicPr preferRelativeResize="0"/>
          <p:nvPr/>
        </p:nvPicPr>
        <p:blipFill rotWithShape="1">
          <a:blip r:embed="rId4">
            <a:alphaModFix/>
          </a:blip>
          <a:srcRect b="13934" l="0" r="0" t="0"/>
          <a:stretch/>
        </p:blipFill>
        <p:spPr>
          <a:xfrm>
            <a:off x="424837" y="1775825"/>
            <a:ext cx="8294325" cy="4950825"/>
          </a:xfrm>
          <a:prstGeom prst="rect">
            <a:avLst/>
          </a:prstGeom>
          <a:noFill/>
          <a:ln>
            <a:noFill/>
          </a:ln>
        </p:spPr>
      </p:pic>
      <p:pic>
        <p:nvPicPr>
          <p:cNvPr id="179" name="Google Shape;179;g3fa15809516_1_13"/>
          <p:cNvPicPr preferRelativeResize="0"/>
          <p:nvPr/>
        </p:nvPicPr>
        <p:blipFill>
          <a:blip r:embed="rId5">
            <a:alphaModFix/>
          </a:blip>
          <a:stretch>
            <a:fillRect/>
          </a:stretch>
        </p:blipFill>
        <p:spPr>
          <a:xfrm>
            <a:off x="619278" y="1824450"/>
            <a:ext cx="1895325" cy="2953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183" name="Shape 183"/>
        <p:cNvGrpSpPr/>
        <p:nvPr/>
      </p:nvGrpSpPr>
      <p:grpSpPr>
        <a:xfrm>
          <a:off x="0" y="0"/>
          <a:ext cx="0" cy="0"/>
          <a:chOff x="0" y="0"/>
          <a:chExt cx="0" cy="0"/>
        </a:xfrm>
      </p:grpSpPr>
      <p:sp>
        <p:nvSpPr>
          <p:cNvPr id="184" name="Google Shape;184;g3fa15809516_1_37"/>
          <p:cNvSpPr txBox="1"/>
          <p:nvPr>
            <p:ph type="title"/>
          </p:nvPr>
        </p:nvSpPr>
        <p:spPr>
          <a:xfrm>
            <a:off x="3854252" y="738849"/>
            <a:ext cx="1435500" cy="4437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SzPts val="1400"/>
              <a:buNone/>
            </a:pPr>
            <a:r>
              <a:rPr lang="es-CL" sz="2800"/>
              <a:t>Mockups </a:t>
            </a:r>
            <a:endParaRPr sz="2800"/>
          </a:p>
        </p:txBody>
      </p:sp>
      <p:grpSp>
        <p:nvGrpSpPr>
          <p:cNvPr id="185" name="Google Shape;185;g3fa15809516_1_37"/>
          <p:cNvGrpSpPr/>
          <p:nvPr/>
        </p:nvGrpSpPr>
        <p:grpSpPr>
          <a:xfrm>
            <a:off x="77533" y="60960"/>
            <a:ext cx="2437066" cy="548640"/>
            <a:chOff x="77533" y="60960"/>
            <a:chExt cx="2437066" cy="548640"/>
          </a:xfrm>
        </p:grpSpPr>
        <p:pic>
          <p:nvPicPr>
            <p:cNvPr id="186" name="Google Shape;186;g3fa15809516_1_37"/>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187" name="Google Shape;187;g3fa15809516_1_37"/>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88" name="Google Shape;188;g3fa15809516_1_37"/>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pic>
        <p:nvPicPr>
          <p:cNvPr id="189" name="Google Shape;189;g3fa15809516_1_37"/>
          <p:cNvPicPr preferRelativeResize="0"/>
          <p:nvPr/>
        </p:nvPicPr>
        <p:blipFill>
          <a:blip r:embed="rId4">
            <a:alphaModFix/>
          </a:blip>
          <a:stretch>
            <a:fillRect/>
          </a:stretch>
        </p:blipFill>
        <p:spPr>
          <a:xfrm>
            <a:off x="478488" y="1351100"/>
            <a:ext cx="8187025" cy="5142950"/>
          </a:xfrm>
          <a:prstGeom prst="rect">
            <a:avLst/>
          </a:prstGeom>
          <a:noFill/>
          <a:ln>
            <a:noFill/>
          </a:ln>
        </p:spPr>
      </p:pic>
      <p:pic>
        <p:nvPicPr>
          <p:cNvPr id="190" name="Google Shape;190;g3fa15809516_1_37"/>
          <p:cNvPicPr preferRelativeResize="0"/>
          <p:nvPr/>
        </p:nvPicPr>
        <p:blipFill>
          <a:blip r:embed="rId5">
            <a:alphaModFix/>
          </a:blip>
          <a:stretch>
            <a:fillRect/>
          </a:stretch>
        </p:blipFill>
        <p:spPr>
          <a:xfrm>
            <a:off x="592430" y="1477642"/>
            <a:ext cx="1264800" cy="35583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14"/>
          <p:cNvSpPr txBox="1"/>
          <p:nvPr>
            <p:ph type="title"/>
          </p:nvPr>
        </p:nvSpPr>
        <p:spPr>
          <a:xfrm>
            <a:off x="3580945" y="862848"/>
            <a:ext cx="1982100" cy="4437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SzPts val="1400"/>
              <a:buNone/>
            </a:pPr>
            <a:r>
              <a:rPr lang="es-CL" sz="2800"/>
              <a:t>C</a:t>
            </a:r>
            <a:r>
              <a:rPr lang="es-CL" sz="2800"/>
              <a:t>onclusiones</a:t>
            </a:r>
            <a:endParaRPr sz="2800"/>
          </a:p>
        </p:txBody>
      </p:sp>
      <p:grpSp>
        <p:nvGrpSpPr>
          <p:cNvPr id="196" name="Google Shape;196;p14"/>
          <p:cNvGrpSpPr/>
          <p:nvPr/>
        </p:nvGrpSpPr>
        <p:grpSpPr>
          <a:xfrm>
            <a:off x="77533" y="60960"/>
            <a:ext cx="2437066" cy="548640"/>
            <a:chOff x="77533" y="60960"/>
            <a:chExt cx="2437066" cy="548640"/>
          </a:xfrm>
        </p:grpSpPr>
        <p:pic>
          <p:nvPicPr>
            <p:cNvPr id="197" name="Google Shape;197;p14"/>
            <p:cNvPicPr preferRelativeResize="0"/>
            <p:nvPr/>
          </p:nvPicPr>
          <p:blipFill rotWithShape="1">
            <a:blip r:embed="rId3">
              <a:alphaModFix/>
            </a:blip>
            <a:srcRect b="0" l="0" r="0" t="0"/>
            <a:stretch/>
          </p:blipFill>
          <p:spPr>
            <a:xfrm>
              <a:off x="77533" y="60960"/>
              <a:ext cx="2437066" cy="548640"/>
            </a:xfrm>
            <a:prstGeom prst="rect">
              <a:avLst/>
            </a:prstGeom>
            <a:noFill/>
            <a:ln>
              <a:noFill/>
            </a:ln>
          </p:spPr>
        </p:pic>
        <p:sp>
          <p:nvSpPr>
            <p:cNvPr id="198" name="Google Shape;198;p14"/>
            <p:cNvSpPr/>
            <p:nvPr/>
          </p:nvSpPr>
          <p:spPr>
            <a:xfrm>
              <a:off x="2514599" y="60960"/>
              <a:ext cx="0" cy="548640"/>
            </a:xfrm>
            <a:custGeom>
              <a:rect b="b" l="l" r="r" t="t"/>
              <a:pathLst>
                <a:path extrusionOk="0" h="548640" w="120000">
                  <a:moveTo>
                    <a:pt x="0" y="0"/>
                  </a:moveTo>
                  <a:lnTo>
                    <a:pt x="0" y="548640"/>
                  </a:lnTo>
                </a:path>
              </a:pathLst>
            </a:custGeom>
            <a:noFill/>
            <a:ln cap="flat" cmpd="sng" w="19050">
              <a:solidFill>
                <a:srgbClr val="17375E"/>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99" name="Google Shape;199;p14"/>
          <p:cNvSpPr txBox="1"/>
          <p:nvPr/>
        </p:nvSpPr>
        <p:spPr>
          <a:xfrm>
            <a:off x="2557782" y="94995"/>
            <a:ext cx="1264800" cy="4746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Clr>
                <a:srgbClr val="000000"/>
              </a:buClr>
              <a:buSzPts val="1000"/>
              <a:buFont typeface="Arial"/>
              <a:buNone/>
            </a:pPr>
            <a:r>
              <a:rPr b="1" i="0" lang="es-CL" sz="1000" u="none" cap="none" strike="noStrike">
                <a:solidFill>
                  <a:schemeClr val="dk1"/>
                </a:solidFill>
                <a:latin typeface="Calibri"/>
                <a:ea typeface="Calibri"/>
                <a:cs typeface="Calibri"/>
                <a:sym typeface="Calibri"/>
              </a:rPr>
              <a:t>ESCUELA DE  INFORMÁTICA Y  TELECOMUNICACIONES</a:t>
            </a:r>
            <a:endParaRPr b="0" i="0" sz="1000" u="none" cap="none" strike="noStrike">
              <a:solidFill>
                <a:schemeClr val="dk1"/>
              </a:solidFill>
              <a:latin typeface="Calibri"/>
              <a:ea typeface="Calibri"/>
              <a:cs typeface="Calibri"/>
              <a:sym typeface="Calibri"/>
            </a:endParaRPr>
          </a:p>
        </p:txBody>
      </p:sp>
      <p:sp>
        <p:nvSpPr>
          <p:cNvPr id="200" name="Google Shape;200;p14"/>
          <p:cNvSpPr txBox="1"/>
          <p:nvPr/>
        </p:nvSpPr>
        <p:spPr>
          <a:xfrm>
            <a:off x="787200" y="1599800"/>
            <a:ext cx="7569600" cy="443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s-CL" sz="1700">
                <a:solidFill>
                  <a:schemeClr val="dk1"/>
                </a:solidFill>
              </a:rPr>
              <a:t>Problema</a:t>
            </a:r>
            <a:endParaRPr b="1" sz="1700">
              <a:solidFill>
                <a:schemeClr val="dk1"/>
              </a:solidFill>
            </a:endParaRPr>
          </a:p>
          <a:p>
            <a:pPr indent="0" lvl="0" marL="381000" marR="381000" rtl="0" algn="l">
              <a:lnSpc>
                <a:spcPct val="115000"/>
              </a:lnSpc>
              <a:spcBef>
                <a:spcPts val="1200"/>
              </a:spcBef>
              <a:spcAft>
                <a:spcPts val="0"/>
              </a:spcAft>
              <a:buNone/>
            </a:pPr>
            <a:r>
              <a:rPr lang="es-CL" sz="1700">
                <a:solidFill>
                  <a:schemeClr val="dk1"/>
                </a:solidFill>
              </a:rPr>
              <a:t>Actualmente falta información objetiva sobre utilización y trazabilidad operacional.</a:t>
            </a:r>
            <a:endParaRPr sz="1700">
              <a:solidFill>
                <a:schemeClr val="dk1"/>
              </a:solidFill>
            </a:endParaRPr>
          </a:p>
          <a:p>
            <a:pPr indent="0" lvl="0" marL="0" rtl="0" algn="l">
              <a:lnSpc>
                <a:spcPct val="115000"/>
              </a:lnSpc>
              <a:spcBef>
                <a:spcPts val="1400"/>
              </a:spcBef>
              <a:spcAft>
                <a:spcPts val="0"/>
              </a:spcAft>
              <a:buNone/>
            </a:pPr>
            <a:r>
              <a:rPr b="1" lang="es-CL" sz="1700">
                <a:solidFill>
                  <a:schemeClr val="dk1"/>
                </a:solidFill>
              </a:rPr>
              <a:t>Propuesta</a:t>
            </a:r>
            <a:endParaRPr b="1" sz="1700">
              <a:solidFill>
                <a:schemeClr val="dk1"/>
              </a:solidFill>
            </a:endParaRPr>
          </a:p>
          <a:p>
            <a:pPr indent="0" lvl="0" marL="381000" marR="381000" rtl="0" algn="l">
              <a:lnSpc>
                <a:spcPct val="115000"/>
              </a:lnSpc>
              <a:spcBef>
                <a:spcPts val="1200"/>
              </a:spcBef>
              <a:spcAft>
                <a:spcPts val="0"/>
              </a:spcAft>
              <a:buNone/>
            </a:pPr>
            <a:r>
              <a:rPr lang="es-CL" sz="1700">
                <a:solidFill>
                  <a:schemeClr val="dk1"/>
                </a:solidFill>
              </a:rPr>
              <a:t>La solución integra visión artificial y una plataforma web para transformar el uso de los baños en información útil para la gestión.</a:t>
            </a:r>
            <a:endParaRPr sz="1700">
              <a:solidFill>
                <a:schemeClr val="dk1"/>
              </a:solidFill>
            </a:endParaRPr>
          </a:p>
          <a:p>
            <a:pPr indent="0" lvl="0" marL="0" rtl="0" algn="l">
              <a:lnSpc>
                <a:spcPct val="115000"/>
              </a:lnSpc>
              <a:spcBef>
                <a:spcPts val="1400"/>
              </a:spcBef>
              <a:spcAft>
                <a:spcPts val="0"/>
              </a:spcAft>
              <a:buNone/>
            </a:pPr>
            <a:r>
              <a:rPr b="1" lang="es-CL" sz="1700">
                <a:solidFill>
                  <a:schemeClr val="dk1"/>
                </a:solidFill>
              </a:rPr>
              <a:t>Factibilidad</a:t>
            </a:r>
            <a:endParaRPr b="1" sz="1700">
              <a:solidFill>
                <a:schemeClr val="dk1"/>
              </a:solidFill>
            </a:endParaRPr>
          </a:p>
          <a:p>
            <a:pPr indent="0" lvl="0" marL="381000" marR="381000" rtl="0" algn="l">
              <a:lnSpc>
                <a:spcPct val="115000"/>
              </a:lnSpc>
              <a:spcBef>
                <a:spcPts val="1200"/>
              </a:spcBef>
              <a:spcAft>
                <a:spcPts val="0"/>
              </a:spcAft>
              <a:buNone/>
            </a:pPr>
            <a:r>
              <a:rPr lang="es-CL" sz="1700">
                <a:solidFill>
                  <a:schemeClr val="dk1"/>
                </a:solidFill>
              </a:rPr>
              <a:t>El MVP fue acotado, planificado y respaldado por una estrategia de riesgos, seguridad y validación progresiva.</a:t>
            </a:r>
            <a:endParaRPr sz="1700">
              <a:solidFill>
                <a:schemeClr val="dk1"/>
              </a:solidFill>
            </a:endParaRPr>
          </a:p>
          <a:p>
            <a:pPr indent="0" lvl="0" marL="381000" marR="381000" rtl="0" algn="l">
              <a:lnSpc>
                <a:spcPct val="115000"/>
              </a:lnSpc>
              <a:spcBef>
                <a:spcPts val="1200"/>
              </a:spcBef>
              <a:spcAft>
                <a:spcPts val="1200"/>
              </a:spcAft>
              <a:buNone/>
            </a:pPr>
            <a:r>
              <a:rPr lang="es-CL" sz="1700">
                <a:solidFill>
                  <a:schemeClr val="dk1"/>
                </a:solidFill>
              </a:rPr>
              <a:t>El objetivo no es automatizar la limpieza, sino mejorar la información disponible para decidir cuándo y dónde intervenir.</a:t>
            </a:r>
            <a:endParaRPr sz="17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2023-03-13T03:12:14Z</dcterms:created>
  <dc:creator>diego</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2022-02-01T00:00:00Z</vt:filetime>
  </property>
  <property fmtid="{D5CDD505-2E9C-101B-9397-08002B2CF9AE}" pid="3" name="LastSaved">
    <vt:filetime>2023-03-13T00:00:00Z</vt:filetime>
  </property>
</Properties>
</file>